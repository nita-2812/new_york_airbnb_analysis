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package/2006/relationships/metadata/thumbnail" Target="docProps/thumbnail.jpeg"/><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3"/>
    <p:sldId id="257" r:id="rId4"/>
    <p:sldId id="258" r:id="rId5"/>
    <p:sldId id="259" r:id="rId6"/>
    <p:sldId id="261" r:id="rId7"/>
    <p:sldId id="262" r:id="rId8"/>
    <p:sldId id="263" r:id="rId9"/>
    <p:sldId id="274" r:id="rId10"/>
    <p:sldId id="265" r:id="rId11"/>
    <p:sldId id="266" r:id="rId12"/>
    <p:sldId id="267" r:id="rId13"/>
    <p:sldId id="268" r:id="rId14"/>
    <p:sldId id="269" r:id="rId15"/>
    <p:sldId id="271" r:id="rId16"/>
    <p:sldId id="272" r:id="rId17"/>
    <p:sldId id="275" r:id="rId18"/>
  </p:sldIdLst>
  <p:sldSz cx="1219136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showGuide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E3F0EE"/>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E3F0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601595" y="2009775"/>
            <a:ext cx="7745095" cy="1029970"/>
          </a:xfrm>
          <a:prstGeom prst="rect">
            <a:avLst/>
          </a:prstGeom>
          <a:noFill/>
        </p:spPr>
        <p:txBody>
          <a:bodyPr wrap="none">
            <a:spAutoFit/>
          </a:bodyPr>
          <a:lstStyle/>
          <a:p>
            <a:pPr>
              <a:defRPr sz="3800" b="1">
                <a:solidFill>
                  <a:srgbClr val="1D2B3E"/>
                </a:solidFill>
              </a:defRPr>
            </a:pPr>
            <a:r>
              <a:t>New York</a:t>
            </a:r>
            <a:r>
              <a:rPr lang="en-US"/>
              <a:t> City</a:t>
            </a:r>
            <a:r>
              <a:t> Airbnb Market Analysis</a:t>
            </a:r>
          </a:p>
          <a:p>
            <a:pPr>
              <a:defRPr sz="2300">
                <a:solidFill>
                  <a:srgbClr val="1A7E87"/>
                </a:solidFill>
              </a:defRPr>
            </a:pPr>
          </a:p>
        </p:txBody>
      </p:sp>
      <p:sp>
        <p:nvSpPr>
          <p:cNvPr id="4" name="TextBox 3"/>
          <p:cNvSpPr txBox="1"/>
          <p:nvPr/>
        </p:nvSpPr>
        <p:spPr>
          <a:xfrm>
            <a:off x="8241030" y="4213225"/>
            <a:ext cx="2795270" cy="521970"/>
          </a:xfrm>
          <a:prstGeom prst="rect">
            <a:avLst/>
          </a:prstGeom>
          <a:noFill/>
        </p:spPr>
        <p:txBody>
          <a:bodyPr wrap="square">
            <a:spAutoFit/>
          </a:bodyPr>
          <a:lstStyle/>
          <a:p>
            <a:pPr>
              <a:defRPr sz="1100">
                <a:solidFill>
                  <a:srgbClr val="64696E"/>
                </a:solidFill>
                <a:latin typeface="Aptos"/>
              </a:defRPr>
            </a:pPr>
            <a:r>
              <a:rPr lang="en-US" sz="1400" b="1"/>
              <a:t>Presented By  :  NITA J</a:t>
            </a:r>
            <a:endParaRPr lang="en-US" sz="1400" b="1"/>
          </a:p>
          <a:p>
            <a:pPr>
              <a:defRPr sz="1100">
                <a:solidFill>
                  <a:srgbClr val="64696E"/>
                </a:solidFill>
                <a:latin typeface="Aptos"/>
              </a:defRPr>
            </a:pPr>
            <a:r>
              <a:rPr lang="en-US" sz="1400" b="1"/>
              <a:t>Data Analyst</a:t>
            </a:r>
            <a:endParaRPr lang="en-US" sz="1400" b="1"/>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E3F0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881360" cy="640080"/>
          </a:xfrm>
          <a:prstGeom prst="rect">
            <a:avLst/>
          </a:prstGeom>
          <a:noFill/>
        </p:spPr>
        <p:txBody>
          <a:bodyPr wrap="none">
            <a:spAutoFit/>
          </a:bodyPr>
          <a:lstStyle/>
          <a:p>
            <a:pPr>
              <a:defRPr sz="2800" b="1">
                <a:solidFill>
                  <a:srgbClr val="1D2B3E"/>
                </a:solidFill>
                <a:latin typeface="Aptos Display"/>
              </a:defRPr>
            </a:pPr>
            <a:r>
              <a:t>Agenda</a:t>
            </a:r>
          </a:p>
        </p:txBody>
      </p:sp>
      <p:sp>
        <p:nvSpPr>
          <p:cNvPr id="7" name="TextBox 6"/>
          <p:cNvSpPr txBox="1"/>
          <p:nvPr/>
        </p:nvSpPr>
        <p:spPr>
          <a:xfrm>
            <a:off x="1071245" y="1129030"/>
            <a:ext cx="6400800" cy="7916545"/>
          </a:xfrm>
          <a:prstGeom prst="rect">
            <a:avLst/>
          </a:prstGeom>
          <a:noFill/>
        </p:spPr>
        <p:txBody>
          <a:bodyPr wrap="square">
            <a:spAutoFit/>
          </a:bodyPr>
          <a:lstStyle/>
          <a:p>
            <a:pPr marL="285750" indent="-285750">
              <a:lnSpc>
                <a:spcPct val="70000"/>
              </a:lnSpc>
              <a:spcAft>
                <a:spcPts val="1200"/>
              </a:spcAft>
              <a:buFont typeface="Arial" panose="020B0604020202020204" pitchFamily="34" charset="0"/>
              <a:buChar char="•"/>
              <a:defRPr sz="1800">
                <a:solidFill>
                  <a:srgbClr val="2D3034"/>
                </a:solidFill>
                <a:latin typeface="Aptos"/>
              </a:defRPr>
            </a:pPr>
            <a:r>
              <a:rPr lang="en-US">
                <a:sym typeface="+mn-ea"/>
              </a:rPr>
              <a:t>BUSINESS PROBLEM</a:t>
            </a:r>
            <a:endParaRPr lang="en-US"/>
          </a:p>
          <a:p>
            <a:pPr marL="285750" indent="-285750">
              <a:lnSpc>
                <a:spcPct val="70000"/>
              </a:lnSpc>
              <a:spcAft>
                <a:spcPts val="1200"/>
              </a:spcAft>
              <a:buFont typeface="Arial" panose="020B0604020202020204" pitchFamily="34" charset="0"/>
              <a:buChar char="•"/>
              <a:defRPr sz="1800">
                <a:solidFill>
                  <a:srgbClr val="2D3034"/>
                </a:solidFill>
                <a:latin typeface="Aptos"/>
              </a:defRPr>
            </a:pPr>
            <a:r>
              <a:rPr lang="en-US">
                <a:sym typeface="+mn-ea"/>
              </a:rPr>
              <a:t>DATASET OVERVIEW</a:t>
            </a:r>
            <a:endParaRPr lang="en-US"/>
          </a:p>
          <a:p>
            <a:pPr marL="285750" indent="-285750">
              <a:lnSpc>
                <a:spcPct val="70000"/>
              </a:lnSpc>
              <a:spcAft>
                <a:spcPts val="1200"/>
              </a:spcAft>
              <a:buFont typeface="Arial" panose="020B0604020202020204" pitchFamily="34" charset="0"/>
              <a:buChar char="•"/>
              <a:defRPr sz="1800">
                <a:solidFill>
                  <a:srgbClr val="2D3034"/>
                </a:solidFill>
                <a:latin typeface="Aptos"/>
              </a:defRPr>
            </a:pPr>
            <a:r>
              <a:rPr lang="en-US">
                <a:sym typeface="+mn-ea"/>
              </a:rPr>
              <a:t>DATA CLEANING</a:t>
            </a:r>
            <a:endParaRPr lang="en-US"/>
          </a:p>
          <a:p>
            <a:pPr marL="285750" indent="-285750">
              <a:lnSpc>
                <a:spcPct val="70000"/>
              </a:lnSpc>
              <a:spcAft>
                <a:spcPts val="1200"/>
              </a:spcAft>
              <a:buFont typeface="Arial" panose="020B0604020202020204" pitchFamily="34" charset="0"/>
              <a:buChar char="•"/>
              <a:defRPr sz="1800">
                <a:solidFill>
                  <a:srgbClr val="2D3034"/>
                </a:solidFill>
                <a:latin typeface="Aptos"/>
              </a:defRPr>
            </a:pPr>
            <a:r>
              <a:rPr>
                <a:sym typeface="+mn-ea"/>
              </a:rPr>
              <a:t>F</a:t>
            </a:r>
            <a:r>
              <a:rPr lang="en-US">
                <a:sym typeface="+mn-ea"/>
              </a:rPr>
              <a:t>EATURE</a:t>
            </a:r>
            <a:r>
              <a:rPr>
                <a:sym typeface="+mn-ea"/>
              </a:rPr>
              <a:t> E</a:t>
            </a:r>
            <a:r>
              <a:rPr lang="en-US">
                <a:sym typeface="+mn-ea"/>
              </a:rPr>
              <a:t>NGINEERING</a:t>
            </a:r>
            <a:endParaRPr lang="en-US"/>
          </a:p>
          <a:p>
            <a:pPr marL="285750" indent="-285750">
              <a:lnSpc>
                <a:spcPct val="70000"/>
              </a:lnSpc>
              <a:spcAft>
                <a:spcPts val="1200"/>
              </a:spcAft>
              <a:buFont typeface="Arial" panose="020B0604020202020204" pitchFamily="34" charset="0"/>
              <a:buChar char="•"/>
              <a:defRPr sz="1800">
                <a:solidFill>
                  <a:srgbClr val="2D3034"/>
                </a:solidFill>
                <a:latin typeface="Aptos"/>
              </a:defRPr>
            </a:pPr>
            <a:r>
              <a:rPr>
                <a:sym typeface="+mn-ea"/>
              </a:rPr>
              <a:t>DAX Measures</a:t>
            </a:r>
            <a:endParaRPr>
              <a:sym typeface="+mn-ea"/>
            </a:endParaRPr>
          </a:p>
          <a:p>
            <a:pPr marL="285750" indent="-285750">
              <a:lnSpc>
                <a:spcPct val="70000"/>
              </a:lnSpc>
              <a:spcAft>
                <a:spcPts val="1200"/>
              </a:spcAft>
              <a:buFont typeface="Arial" panose="020B0604020202020204" pitchFamily="34" charset="0"/>
              <a:buChar char="•"/>
              <a:defRPr sz="1800">
                <a:solidFill>
                  <a:srgbClr val="2D3034"/>
                </a:solidFill>
                <a:latin typeface="Aptos"/>
              </a:defRPr>
            </a:pPr>
            <a:r>
              <a:rPr lang="en-US">
                <a:sym typeface="+mn-ea"/>
              </a:rPr>
              <a:t>LIVE DEMOSTRATION</a:t>
            </a:r>
            <a:endParaRPr lang="en-US"/>
          </a:p>
          <a:p>
            <a:pPr marL="285750" indent="-285750">
              <a:lnSpc>
                <a:spcPct val="70000"/>
              </a:lnSpc>
              <a:spcAft>
                <a:spcPts val="1200"/>
              </a:spcAft>
              <a:buFont typeface="Arial" panose="020B0604020202020204" pitchFamily="34" charset="0"/>
              <a:buChar char="•"/>
              <a:defRPr sz="1800">
                <a:solidFill>
                  <a:srgbClr val="2D3034"/>
                </a:solidFill>
                <a:latin typeface="Aptos"/>
              </a:defRPr>
            </a:pPr>
            <a:r>
              <a:rPr>
                <a:sym typeface="+mn-ea"/>
              </a:rPr>
              <a:t>Market Overview</a:t>
            </a:r>
            <a:endParaRPr>
              <a:sym typeface="+mn-ea"/>
            </a:endParaRPr>
          </a:p>
          <a:p>
            <a:pPr marL="285750" indent="-285750">
              <a:lnSpc>
                <a:spcPct val="70000"/>
              </a:lnSpc>
              <a:spcAft>
                <a:spcPts val="1200"/>
              </a:spcAft>
              <a:buFont typeface="Arial" panose="020B0604020202020204" pitchFamily="34" charset="0"/>
              <a:buChar char="•"/>
              <a:defRPr sz="1800">
                <a:solidFill>
                  <a:srgbClr val="2D3034"/>
                </a:solidFill>
                <a:latin typeface="Aptos"/>
              </a:defRPr>
            </a:pPr>
            <a:r>
              <a:rPr>
                <a:sym typeface="+mn-ea"/>
              </a:rPr>
              <a:t>Location Analysis</a:t>
            </a:r>
            <a:endParaRPr>
              <a:sym typeface="+mn-ea"/>
            </a:endParaRPr>
          </a:p>
          <a:p>
            <a:pPr marL="285750" indent="-285750">
              <a:lnSpc>
                <a:spcPct val="70000"/>
              </a:lnSpc>
              <a:spcAft>
                <a:spcPts val="1200"/>
              </a:spcAft>
              <a:buFont typeface="Arial" panose="020B0604020202020204" pitchFamily="34" charset="0"/>
              <a:buChar char="•"/>
              <a:defRPr sz="1800">
                <a:solidFill>
                  <a:srgbClr val="2D3034"/>
                </a:solidFill>
                <a:latin typeface="Aptos"/>
              </a:defRPr>
            </a:pPr>
            <a:r>
              <a:rPr>
                <a:sym typeface="+mn-ea"/>
              </a:rPr>
              <a:t>Room &amp; Pricing</a:t>
            </a:r>
            <a:endParaRPr>
              <a:sym typeface="+mn-ea"/>
            </a:endParaRPr>
          </a:p>
          <a:p>
            <a:pPr marL="285750" indent="-285750">
              <a:lnSpc>
                <a:spcPct val="70000"/>
              </a:lnSpc>
              <a:spcAft>
                <a:spcPts val="1200"/>
              </a:spcAft>
              <a:buFont typeface="Arial" panose="020B0604020202020204" pitchFamily="34" charset="0"/>
              <a:buChar char="•"/>
              <a:defRPr sz="1800">
                <a:solidFill>
                  <a:srgbClr val="2D3034"/>
                </a:solidFill>
                <a:latin typeface="Aptos"/>
              </a:defRPr>
            </a:pPr>
            <a:r>
              <a:rPr>
                <a:sym typeface="+mn-ea"/>
              </a:rPr>
              <a:t>Host Performance</a:t>
            </a:r>
            <a:endParaRPr>
              <a:sym typeface="+mn-ea"/>
            </a:endParaRPr>
          </a:p>
          <a:p>
            <a:pPr marL="285750" indent="-285750">
              <a:lnSpc>
                <a:spcPct val="70000"/>
              </a:lnSpc>
              <a:spcAft>
                <a:spcPts val="1200"/>
              </a:spcAft>
              <a:buFont typeface="Arial" panose="020B0604020202020204" pitchFamily="34" charset="0"/>
              <a:buChar char="•"/>
              <a:defRPr sz="1800">
                <a:solidFill>
                  <a:srgbClr val="2D3034"/>
                </a:solidFill>
                <a:latin typeface="Aptos"/>
              </a:defRPr>
            </a:pPr>
            <a:r>
              <a:rPr>
                <a:sym typeface="+mn-ea"/>
              </a:rPr>
              <a:t>Reviews &amp; Availability</a:t>
            </a:r>
            <a:endParaRPr>
              <a:sym typeface="+mn-ea"/>
            </a:endParaRPr>
          </a:p>
          <a:p>
            <a:pPr marL="285750" indent="-285750">
              <a:lnSpc>
                <a:spcPct val="70000"/>
              </a:lnSpc>
              <a:spcAft>
                <a:spcPts val="1200"/>
              </a:spcAft>
              <a:buFont typeface="Arial" panose="020B0604020202020204" pitchFamily="34" charset="0"/>
              <a:buChar char="•"/>
              <a:defRPr sz="1800">
                <a:solidFill>
                  <a:srgbClr val="2D3034"/>
                </a:solidFill>
                <a:latin typeface="Aptos"/>
              </a:defRPr>
            </a:pPr>
            <a:r>
              <a:rPr>
                <a:sym typeface="+mn-ea"/>
              </a:rPr>
              <a:t>Recommendations</a:t>
            </a:r>
            <a:endParaRPr>
              <a:sym typeface="+mn-ea"/>
            </a:endParaRPr>
          </a:p>
          <a:p>
            <a:pPr marL="285750" indent="-285750">
              <a:lnSpc>
                <a:spcPct val="70000"/>
              </a:lnSpc>
              <a:spcAft>
                <a:spcPts val="1200"/>
              </a:spcAft>
              <a:buFont typeface="Arial" panose="020B0604020202020204" pitchFamily="34" charset="0"/>
              <a:buChar char="•"/>
              <a:defRPr sz="1800">
                <a:solidFill>
                  <a:srgbClr val="2D3034"/>
                </a:solidFill>
                <a:latin typeface="Aptos"/>
              </a:defRPr>
            </a:pPr>
            <a:r>
              <a:rPr>
                <a:sym typeface="+mn-ea"/>
              </a:rPr>
              <a:t>Conclusion</a:t>
            </a:r>
            <a:endParaRPr>
              <a:sym typeface="+mn-ea"/>
            </a:endParaRPr>
          </a:p>
          <a:p>
            <a:pPr marL="285750" indent="-285750">
              <a:lnSpc>
                <a:spcPct val="70000"/>
              </a:lnSpc>
              <a:spcAft>
                <a:spcPts val="1200"/>
              </a:spcAft>
              <a:buFont typeface="Arial" panose="020B0604020202020204" pitchFamily="34" charset="0"/>
              <a:buChar char="•"/>
              <a:defRPr sz="1800">
                <a:solidFill>
                  <a:srgbClr val="2D3034"/>
                </a:solidFill>
                <a:latin typeface="Aptos"/>
              </a:defRPr>
            </a:pPr>
            <a:r>
              <a:rPr lang="en-US">
                <a:sym typeface="+mn-ea"/>
              </a:rPr>
              <a:t>Q &amp; ANS </a:t>
            </a:r>
            <a:endParaRPr lang="en-US"/>
          </a:p>
          <a:p>
            <a:pPr marL="285750" indent="-285750">
              <a:lnSpc>
                <a:spcPct val="70000"/>
              </a:lnSpc>
              <a:spcAft>
                <a:spcPts val="1200"/>
              </a:spcAft>
              <a:buFont typeface="Arial" panose="020B0604020202020204" pitchFamily="34" charset="0"/>
              <a:buChar char="•"/>
              <a:defRPr sz="1800">
                <a:solidFill>
                  <a:srgbClr val="2D3034"/>
                </a:solidFill>
                <a:latin typeface="Aptos"/>
              </a:defRPr>
            </a:pPr>
            <a:endParaRPr>
              <a:sym typeface="+mn-ea"/>
            </a:endParaRPr>
          </a:p>
          <a:p>
            <a:pPr marL="285750" indent="-285750">
              <a:lnSpc>
                <a:spcPct val="70000"/>
              </a:lnSpc>
              <a:spcAft>
                <a:spcPts val="1200"/>
              </a:spcAft>
              <a:buFont typeface="Arial" panose="020B0604020202020204" pitchFamily="34" charset="0"/>
              <a:buChar char="•"/>
              <a:defRPr sz="1800">
                <a:solidFill>
                  <a:srgbClr val="2D3034"/>
                </a:solidFill>
                <a:latin typeface="Aptos"/>
              </a:defRPr>
            </a:pPr>
            <a:endParaRPr>
              <a:sym typeface="+mn-ea"/>
            </a:endParaRPr>
          </a:p>
          <a:p>
            <a:pPr marL="285750" indent="-285750">
              <a:lnSpc>
                <a:spcPct val="70000"/>
              </a:lnSpc>
              <a:spcAft>
                <a:spcPts val="1200"/>
              </a:spcAft>
              <a:buFont typeface="Arial" panose="020B0604020202020204" pitchFamily="34" charset="0"/>
              <a:buChar char="•"/>
              <a:defRPr sz="1800">
                <a:solidFill>
                  <a:srgbClr val="2D3034"/>
                </a:solidFill>
                <a:latin typeface="Aptos"/>
              </a:defRPr>
            </a:pPr>
            <a:endParaRPr>
              <a:sym typeface="+mn-ea"/>
            </a:endParaRPr>
          </a:p>
          <a:p>
            <a:pPr marL="285750" indent="-285750">
              <a:lnSpc>
                <a:spcPct val="70000"/>
              </a:lnSpc>
              <a:spcAft>
                <a:spcPts val="1200"/>
              </a:spcAft>
              <a:buFont typeface="Arial" panose="020B0604020202020204" pitchFamily="34" charset="0"/>
              <a:buChar char="•"/>
              <a:defRPr sz="1800">
                <a:solidFill>
                  <a:srgbClr val="2D3034"/>
                </a:solidFill>
                <a:latin typeface="Aptos"/>
              </a:defRPr>
            </a:pPr>
            <a:endParaRPr>
              <a:sym typeface="+mn-ea"/>
            </a:endParaRPr>
          </a:p>
          <a:p>
            <a:pPr marL="285750" indent="-285750">
              <a:spcAft>
                <a:spcPts val="1200"/>
              </a:spcAft>
              <a:buFont typeface="Arial" panose="020B0604020202020204" pitchFamily="34" charset="0"/>
              <a:buChar char="•"/>
              <a:defRPr sz="1800">
                <a:solidFill>
                  <a:srgbClr val="2D3034"/>
                </a:solidFill>
                <a:latin typeface="Aptos"/>
              </a:defRPr>
            </a:pPr>
            <a:endParaRPr>
              <a:sym typeface="+mn-ea"/>
            </a:endParaRPr>
          </a:p>
          <a:p>
            <a:pPr marL="285750" indent="-285750">
              <a:spcAft>
                <a:spcPts val="1200"/>
              </a:spcAft>
              <a:buFont typeface="Arial" panose="020B0604020202020204" pitchFamily="34" charset="0"/>
              <a:buChar char="•"/>
              <a:defRPr sz="1800">
                <a:solidFill>
                  <a:srgbClr val="2D3034"/>
                </a:solidFill>
                <a:latin typeface="Aptos"/>
              </a:defRPr>
            </a:pPr>
            <a:endParaRPr>
              <a:sym typeface="+mn-ea"/>
            </a:endParaRPr>
          </a:p>
          <a:p>
            <a:pPr marL="285750" indent="-285750">
              <a:spcAft>
                <a:spcPts val="1200"/>
              </a:spcAft>
              <a:buFont typeface="Arial" panose="020B0604020202020204" pitchFamily="34" charset="0"/>
              <a:buChar char="•"/>
              <a:defRPr sz="1800">
                <a:solidFill>
                  <a:srgbClr val="2D3034"/>
                </a:solidFill>
                <a:latin typeface="Aptos"/>
              </a:defRPr>
            </a:pPr>
            <a:endParaRPr>
              <a:sym typeface="+mn-ea"/>
            </a:endParaRPr>
          </a:p>
          <a:p>
            <a:pPr marL="285750" indent="-285750">
              <a:spcAft>
                <a:spcPts val="1200"/>
              </a:spcAft>
              <a:buFont typeface="Arial" panose="020B0604020202020204" pitchFamily="34" charset="0"/>
              <a:buChar char="•"/>
              <a:defRPr sz="1800">
                <a:solidFill>
                  <a:srgbClr val="2D3034"/>
                </a:solidFill>
                <a:latin typeface="Aptos"/>
              </a:defRPr>
            </a:p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E3F0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495" y="1024128"/>
            <a:ext cx="3397250" cy="521970"/>
          </a:xfrm>
          <a:prstGeom prst="rect">
            <a:avLst/>
          </a:prstGeom>
          <a:noFill/>
        </p:spPr>
        <p:txBody>
          <a:bodyPr wrap="none">
            <a:spAutoFit/>
          </a:bodyPr>
          <a:lstStyle/>
          <a:p>
            <a:pPr>
              <a:defRPr sz="2800" b="1">
                <a:solidFill>
                  <a:srgbClr val="1D2B3E"/>
                </a:solidFill>
                <a:latin typeface="Aptos Display"/>
              </a:defRPr>
            </a:pPr>
            <a:r>
              <a:rPr lang="en-US"/>
              <a:t>BUSINESS PROBLEM</a:t>
            </a:r>
            <a:endParaRPr lang="en-US"/>
          </a:p>
        </p:txBody>
      </p:sp>
      <p:sp>
        <p:nvSpPr>
          <p:cNvPr id="7" name="TextBox 6"/>
          <p:cNvSpPr txBox="1"/>
          <p:nvPr/>
        </p:nvSpPr>
        <p:spPr>
          <a:xfrm>
            <a:off x="1018540" y="1929765"/>
            <a:ext cx="10424160" cy="4523105"/>
          </a:xfrm>
          <a:prstGeom prst="rect">
            <a:avLst/>
          </a:prstGeom>
          <a:noFill/>
        </p:spPr>
        <p:txBody>
          <a:bodyPr wrap="square">
            <a:spAutoFit/>
          </a:bodyPr>
          <a:lstStyle/>
          <a:p>
            <a:pPr indent="0" algn="l">
              <a:spcAft>
                <a:spcPts val="1200"/>
              </a:spcAft>
              <a:buNone/>
              <a:defRPr sz="1700">
                <a:solidFill>
                  <a:srgbClr val="2D3034"/>
                </a:solidFill>
                <a:latin typeface="Aptos"/>
              </a:defRPr>
            </a:pPr>
            <a:r>
              <a:rPr lang="en-US" altLang="en-US" sz="1800" b="1"/>
              <a:t>The main purpose of this project is to understand the Airbnb market, compare prices across neighbourhoods, analyse host performance and study customer review activity.</a:t>
            </a:r>
            <a:endParaRPr lang="en-US" altLang="en-US" sz="1800" b="1"/>
          </a:p>
          <a:p>
            <a:pPr indent="0" algn="l">
              <a:spcAft>
                <a:spcPts val="1200"/>
              </a:spcAft>
              <a:buNone/>
              <a:defRPr sz="1700">
                <a:solidFill>
                  <a:srgbClr val="2D3034"/>
                </a:solidFill>
                <a:latin typeface="Aptos"/>
              </a:defRPr>
            </a:pPr>
            <a:r>
              <a:rPr sz="1800" b="1"/>
              <a:t>The dataset allows me to study </a:t>
            </a:r>
            <a:r>
              <a:rPr lang="en-US" sz="1800" b="1"/>
              <a:t>:</a:t>
            </a:r>
            <a:endParaRPr sz="1800" b="1"/>
          </a:p>
          <a:p>
            <a:pPr indent="0" algn="l">
              <a:spcAft>
                <a:spcPts val="1200"/>
              </a:spcAft>
              <a:buNone/>
              <a:defRPr sz="1700">
                <a:solidFill>
                  <a:srgbClr val="2D3034"/>
                </a:solidFill>
                <a:latin typeface="Aptos"/>
              </a:defRPr>
            </a:pPr>
            <a:r>
              <a:rPr sz="1800" b="1"/>
              <a:t>where listings are located</a:t>
            </a:r>
            <a:r>
              <a:rPr lang="en-US" sz="1800" b="1"/>
              <a:t>?</a:t>
            </a:r>
            <a:endParaRPr lang="en-US" sz="1800" b="1"/>
          </a:p>
          <a:p>
            <a:pPr indent="0" algn="l">
              <a:spcAft>
                <a:spcPts val="1200"/>
              </a:spcAft>
              <a:buNone/>
              <a:defRPr sz="1700">
                <a:solidFill>
                  <a:srgbClr val="2D3034"/>
                </a:solidFill>
                <a:latin typeface="Aptos"/>
              </a:defRPr>
            </a:pPr>
            <a:r>
              <a:rPr sz="1800" b="1"/>
              <a:t>how much they cost</a:t>
            </a:r>
            <a:r>
              <a:rPr lang="en-US" sz="1800" b="1"/>
              <a:t>?</a:t>
            </a:r>
            <a:endParaRPr lang="en-US" sz="1800" b="1"/>
          </a:p>
          <a:p>
            <a:pPr indent="0" algn="l">
              <a:spcAft>
                <a:spcPts val="1200"/>
              </a:spcAft>
              <a:buNone/>
              <a:defRPr sz="1700">
                <a:solidFill>
                  <a:srgbClr val="2D3034"/>
                </a:solidFill>
                <a:latin typeface="Aptos"/>
              </a:defRPr>
            </a:pPr>
            <a:r>
              <a:rPr sz="1800" b="1"/>
              <a:t>what type of rooms are offered</a:t>
            </a:r>
            <a:r>
              <a:rPr lang="en-US" sz="1800" b="1"/>
              <a:t>?</a:t>
            </a:r>
            <a:r>
              <a:rPr sz="1800" b="1"/>
              <a:t> </a:t>
            </a:r>
            <a:endParaRPr sz="1800" b="1"/>
          </a:p>
          <a:p>
            <a:pPr indent="0" algn="l">
              <a:spcAft>
                <a:spcPts val="1200"/>
              </a:spcAft>
              <a:buNone/>
              <a:defRPr sz="1700">
                <a:solidFill>
                  <a:srgbClr val="2D3034"/>
                </a:solidFill>
                <a:latin typeface="Aptos"/>
              </a:defRPr>
            </a:pPr>
            <a:r>
              <a:rPr sz="1800" b="1"/>
              <a:t>how hosts manage their listings</a:t>
            </a:r>
            <a:r>
              <a:rPr lang="en-US" sz="1800" b="1"/>
              <a:t>?</a:t>
            </a:r>
            <a:endParaRPr sz="1800" b="1"/>
          </a:p>
          <a:p>
            <a:pPr indent="0" algn="l">
              <a:spcAft>
                <a:spcPts val="1200"/>
              </a:spcAft>
              <a:buNone/>
              <a:defRPr sz="1600">
                <a:solidFill>
                  <a:srgbClr val="2D3034"/>
                </a:solidFill>
                <a:latin typeface="Aptos"/>
              </a:defRPr>
            </a:pPr>
            <a:r>
              <a:rPr sz="1800" b="1">
                <a:sym typeface="+mn-ea"/>
              </a:rPr>
              <a:t>Which neighbourhoods have higher average prices?</a:t>
            </a:r>
            <a:endParaRPr sz="1800" b="1">
              <a:sym typeface="+mn-ea"/>
            </a:endParaRPr>
          </a:p>
          <a:p>
            <a:pPr indent="0" algn="l">
              <a:spcAft>
                <a:spcPts val="1200"/>
              </a:spcAft>
              <a:buNone/>
              <a:defRPr sz="1600">
                <a:solidFill>
                  <a:srgbClr val="2D3034"/>
                </a:solidFill>
                <a:latin typeface="Aptos"/>
              </a:defRPr>
            </a:pPr>
            <a:r>
              <a:rPr sz="1800" b="1">
                <a:sym typeface="+mn-ea"/>
              </a:rPr>
              <a:t>How are reviews distributed across the market</a:t>
            </a:r>
            <a:r>
              <a:rPr lang="en-US" sz="1800" b="1">
                <a:sym typeface="+mn-ea"/>
              </a:rPr>
              <a:t>?</a:t>
            </a:r>
            <a:endParaRPr sz="1800" b="1">
              <a:sym typeface="+mn-ea"/>
            </a:endParaRPr>
          </a:p>
          <a:p>
            <a:pPr>
              <a:spcAft>
                <a:spcPts val="1200"/>
              </a:spcAft>
              <a:defRPr sz="1700">
                <a:solidFill>
                  <a:srgbClr val="2D3034"/>
                </a:solidFill>
                <a:latin typeface="Aptos"/>
              </a:defRPr>
            </a:pPr>
            <a:endParaRPr sz="1800" b="1"/>
          </a:p>
          <a:p>
            <a:pPr>
              <a:spcAft>
                <a:spcPts val="1200"/>
              </a:spcAft>
              <a:defRPr sz="1700">
                <a:solidFill>
                  <a:srgbClr val="2D3034"/>
                </a:solidFill>
                <a:latin typeface="Aptos"/>
              </a:defRPr>
            </a:pPr>
            <a:endParaRPr sz="1800" b="1"/>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E3F0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3448050" cy="521970"/>
          </a:xfrm>
          <a:prstGeom prst="rect">
            <a:avLst/>
          </a:prstGeom>
          <a:noFill/>
        </p:spPr>
        <p:txBody>
          <a:bodyPr wrap="none">
            <a:spAutoFit/>
          </a:bodyPr>
          <a:lstStyle/>
          <a:p>
            <a:pPr>
              <a:defRPr sz="2800" b="1">
                <a:solidFill>
                  <a:srgbClr val="1D2B3E"/>
                </a:solidFill>
                <a:latin typeface="Aptos Display"/>
              </a:defRPr>
            </a:pPr>
            <a:r>
              <a:rPr lang="en-US"/>
              <a:t>DATASET OVERVIEW</a:t>
            </a:r>
            <a:endParaRPr lang="en-US"/>
          </a:p>
        </p:txBody>
      </p:sp>
      <p:sp>
        <p:nvSpPr>
          <p:cNvPr id="7" name="TextBox 6"/>
          <p:cNvSpPr txBox="1"/>
          <p:nvPr/>
        </p:nvSpPr>
        <p:spPr>
          <a:xfrm>
            <a:off x="777240" y="1645920"/>
            <a:ext cx="10424160" cy="337185"/>
          </a:xfrm>
          <a:prstGeom prst="rect">
            <a:avLst/>
          </a:prstGeom>
          <a:noFill/>
        </p:spPr>
        <p:txBody>
          <a:bodyPr wrap="square">
            <a:spAutoFit/>
          </a:bodyPr>
          <a:lstStyle/>
          <a:p>
            <a:pPr>
              <a:spcAft>
                <a:spcPts val="1200"/>
              </a:spcAft>
              <a:defRPr sz="1600">
                <a:solidFill>
                  <a:srgbClr val="2D3034"/>
                </a:solidFill>
                <a:latin typeface="Aptos"/>
              </a:defRPr>
            </a:pPr>
          </a:p>
        </p:txBody>
      </p:sp>
      <p:graphicFrame>
        <p:nvGraphicFramePr>
          <p:cNvPr id="16" name="Table 15"/>
          <p:cNvGraphicFramePr/>
          <p:nvPr/>
        </p:nvGraphicFramePr>
        <p:xfrm>
          <a:off x="777875" y="1544320"/>
          <a:ext cx="10423525" cy="4663440"/>
        </p:xfrm>
        <a:graphic>
          <a:graphicData uri="http://schemas.openxmlformats.org/drawingml/2006/table">
            <a:tbl>
              <a:tblPr/>
              <a:tblGrid>
                <a:gridCol w="10423525"/>
              </a:tblGrid>
              <a:tr h="4663440">
                <a:tc>
                  <a:txBody>
                    <a:bodyPr/>
                    <a:p>
                      <a:r>
                        <a:rPr lang="en-US" sz="2400" b="1">
                          <a:latin typeface="Arial Black" panose="020B0A04020102020204" charset="0"/>
                          <a:cs typeface="Arial Black" panose="020B0A04020102020204" charset="0"/>
                        </a:rPr>
                        <a:t>MAIN COLUMN               DATA TYPE</a:t>
                      </a:r>
                      <a:endParaRPr lang="en-US" sz="2400" b="1">
                        <a:latin typeface="Arial Black" panose="020B0A04020102020204" charset="0"/>
                        <a:cs typeface="Arial Black" panose="020B0A04020102020204" charset="0"/>
                      </a:endParaRPr>
                    </a:p>
                    <a:p>
                      <a:endParaRPr sz="2400" b="1">
                        <a:latin typeface="Arial Black" panose="020B0A04020102020204" charset="0"/>
                        <a:cs typeface="Arial Black" panose="020B0A04020102020204" charset="0"/>
                      </a:endParaRPr>
                    </a:p>
                    <a:p>
                      <a:r>
                        <a:rPr sz="2400"/>
                        <a:t>room_type</a:t>
                      </a:r>
                      <a:r>
                        <a:rPr lang="en-US" sz="2400"/>
                        <a:t>                                        Text</a:t>
                      </a:r>
                      <a:endParaRPr lang="en-US" sz="2400"/>
                    </a:p>
                    <a:p>
                      <a:r>
                        <a:rPr lang="en-US" sz="2400"/>
                        <a:t>price                                                   whole number</a:t>
                      </a:r>
                      <a:endParaRPr lang="en-US" sz="2400"/>
                    </a:p>
                    <a:p>
                      <a:r>
                        <a:rPr lang="en-US" sz="2400"/>
                        <a:t>minimum_nights                              </a:t>
                      </a:r>
                      <a:r>
                        <a:rPr lang="en-US" sz="2400">
                          <a:sym typeface="+mn-ea"/>
                        </a:rPr>
                        <a:t>whole number</a:t>
                      </a:r>
                      <a:endParaRPr lang="en-US" sz="2400">
                        <a:sym typeface="+mn-ea"/>
                      </a:endParaRPr>
                    </a:p>
                    <a:p>
                      <a:r>
                        <a:rPr lang="en-US" sz="2400">
                          <a:sym typeface="+mn-ea"/>
                        </a:rPr>
                        <a:t>number_of_reviews                         whole number</a:t>
                      </a:r>
                      <a:endParaRPr lang="en-US" sz="2400">
                        <a:sym typeface="+mn-ea"/>
                      </a:endParaRPr>
                    </a:p>
                    <a:p>
                      <a:r>
                        <a:rPr lang="en-US" sz="2400">
                          <a:sym typeface="+mn-ea"/>
                        </a:rPr>
                        <a:t>last_review                                        Date</a:t>
                      </a:r>
                      <a:endParaRPr lang="en-US" sz="2400">
                        <a:sym typeface="+mn-ea"/>
                      </a:endParaRPr>
                    </a:p>
                    <a:p>
                      <a:r>
                        <a:rPr lang="en-US" sz="2400">
                          <a:sym typeface="+mn-ea"/>
                        </a:rPr>
                        <a:t>reviews_per_month                         Decimal Number</a:t>
                      </a:r>
                      <a:endParaRPr lang="en-US" sz="2400">
                        <a:sym typeface="+mn-ea"/>
                      </a:endParaRPr>
                    </a:p>
                    <a:p>
                      <a:r>
                        <a:rPr lang="en-US" sz="2400">
                          <a:sym typeface="+mn-ea"/>
                        </a:rPr>
                        <a:t>calculated_host_listings_count      whole number</a:t>
                      </a:r>
                      <a:endParaRPr lang="en-US" sz="2400">
                        <a:sym typeface="+mn-ea"/>
                      </a:endParaRPr>
                    </a:p>
                    <a:p>
                      <a:r>
                        <a:rPr lang="en-US" sz="2400">
                          <a:sym typeface="+mn-ea"/>
                        </a:rPr>
                        <a:t>availability_365                                 whole number</a:t>
                      </a:r>
                      <a:endParaRPr lang="en-US" sz="2400">
                        <a:sym typeface="+mn-ea"/>
                      </a:endParaRPr>
                    </a:p>
                    <a:p>
                      <a:endParaRPr lang="en-US" sz="2400">
                        <a:sym typeface="+mn-ea"/>
                      </a:endParaRPr>
                    </a:p>
                    <a:p>
                      <a:r>
                        <a:rPr lang="en-US" sz="2400"/>
                        <a:t>Total Number of Columns : </a:t>
                      </a:r>
                      <a:r>
                        <a:rPr lang="en-US" sz="2400" b="1"/>
                        <a:t>16</a:t>
                      </a:r>
                      <a:endParaRPr lang="en-US" sz="2400"/>
                    </a:p>
                    <a:p>
                      <a:r>
                        <a:rPr lang="en-US" sz="2400"/>
                        <a:t>Total Number of Rows       :  </a:t>
                      </a:r>
                      <a:r>
                        <a:rPr lang="en-US" altLang="en-US" sz="2400" b="1"/>
                        <a:t>49,080</a:t>
                      </a:r>
                      <a:endParaRPr lang="en-US" altLang="en-US" sz="2400"/>
                    </a:p>
                    <a:p>
                      <a:endParaRPr lang="en-US" sz="1100"/>
                    </a:p>
                    <a:p>
                      <a:r>
                        <a:rPr lang="en-US" sz="1100">
                          <a:sym typeface="+mn-ea"/>
                        </a:rPr>
                        <a:t>   </a:t>
                      </a:r>
                      <a:endParaRPr lang="en-US" sz="1100"/>
                    </a:p>
                    <a:p>
                      <a:endParaRPr lang="en-US" sz="1100"/>
                    </a:p>
                    <a:p>
                      <a:endParaRPr lang="en-US" sz="1100"/>
                    </a:p>
                    <a:p>
                      <a:endParaRPr lang="en-US" sz="1100"/>
                    </a:p>
                    <a:p>
                      <a:endParaRPr lang="en-US" sz="1100"/>
                    </a:p>
                  </a:txBody>
                  <a:tcPr marL="0" marR="0" marT="0" marB="0" anchor="ctr" anchorCtr="0">
                    <a:lnL>
                      <a:noFill/>
                    </a:lnL>
                    <a:lnR>
                      <a:noFill/>
                    </a:lnR>
                    <a:lnT>
                      <a:noFill/>
                    </a:lnT>
                    <a:lnB>
                      <a:noFill/>
                    </a:lnB>
                    <a:no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E3F0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906018"/>
            <a:ext cx="2849880" cy="521970"/>
          </a:xfrm>
          <a:prstGeom prst="rect">
            <a:avLst/>
          </a:prstGeom>
          <a:noFill/>
        </p:spPr>
        <p:txBody>
          <a:bodyPr wrap="none">
            <a:spAutoFit/>
          </a:bodyPr>
          <a:lstStyle/>
          <a:p>
            <a:pPr>
              <a:defRPr sz="2800" b="1">
                <a:solidFill>
                  <a:srgbClr val="1D2B3E"/>
                </a:solidFill>
                <a:latin typeface="Aptos Display"/>
              </a:defRPr>
            </a:pPr>
            <a:r>
              <a:rPr lang="en-US"/>
              <a:t>DATA CLEANING</a:t>
            </a:r>
            <a:endParaRPr lang="en-US"/>
          </a:p>
        </p:txBody>
      </p:sp>
      <p:sp>
        <p:nvSpPr>
          <p:cNvPr id="7" name="TextBox 6"/>
          <p:cNvSpPr txBox="1"/>
          <p:nvPr/>
        </p:nvSpPr>
        <p:spPr>
          <a:xfrm>
            <a:off x="731520" y="2320290"/>
            <a:ext cx="10698480" cy="3138170"/>
          </a:xfrm>
          <a:prstGeom prst="rect">
            <a:avLst/>
          </a:prstGeom>
          <a:noFill/>
        </p:spPr>
        <p:txBody>
          <a:bodyPr wrap="square">
            <a:spAutoFit/>
          </a:bodyPr>
          <a:lstStyle/>
          <a:p>
            <a:pPr>
              <a:spcAft>
                <a:spcPts val="1200"/>
              </a:spcAft>
              <a:defRPr sz="1400">
                <a:solidFill>
                  <a:srgbClr val="2D3034"/>
                </a:solidFill>
                <a:latin typeface="Aptos"/>
              </a:defRPr>
            </a:pPr>
            <a:r>
              <a:rPr sz="1600" b="1"/>
              <a:t>• Promoted the first row as the column headers.</a:t>
            </a:r>
            <a:endParaRPr sz="1600" b="1"/>
          </a:p>
          <a:p>
            <a:pPr>
              <a:spcAft>
                <a:spcPts val="1200"/>
              </a:spcAft>
              <a:defRPr sz="1400">
                <a:solidFill>
                  <a:srgbClr val="2D3034"/>
                </a:solidFill>
                <a:latin typeface="Aptos"/>
              </a:defRPr>
            </a:pPr>
            <a:r>
              <a:rPr sz="1600" b="1"/>
              <a:t>• Changed the columns to the correct data types.</a:t>
            </a:r>
            <a:endParaRPr sz="1600" b="1"/>
          </a:p>
          <a:p>
            <a:pPr>
              <a:spcAft>
                <a:spcPts val="1200"/>
              </a:spcAft>
              <a:defRPr sz="1400">
                <a:solidFill>
                  <a:srgbClr val="2D3034"/>
                </a:solidFill>
                <a:latin typeface="Aptos"/>
              </a:defRPr>
            </a:pPr>
            <a:r>
              <a:rPr sz="1600" b="1"/>
              <a:t>• Removed duplicate listing IDs.</a:t>
            </a:r>
            <a:endParaRPr sz="1600" b="1"/>
          </a:p>
          <a:p>
            <a:pPr>
              <a:spcAft>
                <a:spcPts val="1200"/>
              </a:spcAft>
              <a:defRPr sz="1400">
                <a:solidFill>
                  <a:srgbClr val="2D3034"/>
                </a:solidFill>
                <a:latin typeface="Aptos"/>
              </a:defRPr>
            </a:pPr>
            <a:r>
              <a:rPr sz="1600" b="1"/>
              <a:t>• Trimmed text and replaced missing names with 'Unknown'.</a:t>
            </a:r>
            <a:endParaRPr sz="1600" b="1"/>
          </a:p>
          <a:p>
            <a:pPr>
              <a:spcAft>
                <a:spcPts val="1200"/>
              </a:spcAft>
              <a:defRPr sz="1400">
                <a:solidFill>
                  <a:srgbClr val="2D3034"/>
                </a:solidFill>
                <a:latin typeface="Aptos"/>
              </a:defRPr>
            </a:pPr>
            <a:r>
              <a:rPr sz="1600" b="1"/>
              <a:t>• Replaced missing reviews_per_month values with 0.</a:t>
            </a:r>
            <a:endParaRPr sz="1600" b="1"/>
          </a:p>
          <a:p>
            <a:pPr>
              <a:spcAft>
                <a:spcPts val="1200"/>
              </a:spcAft>
              <a:defRPr sz="1400">
                <a:solidFill>
                  <a:srgbClr val="2D3034"/>
                </a:solidFill>
                <a:latin typeface="Aptos"/>
              </a:defRPr>
            </a:pPr>
            <a:r>
              <a:rPr sz="1600" b="1"/>
              <a:t>• Removed zero-price records and invalid price errors.</a:t>
            </a:r>
            <a:endParaRPr sz="1600" b="1"/>
          </a:p>
          <a:p>
            <a:pPr>
              <a:spcAft>
                <a:spcPts val="1200"/>
              </a:spcAft>
              <a:defRPr sz="1400">
                <a:solidFill>
                  <a:srgbClr val="2D3034"/>
                </a:solidFill>
                <a:latin typeface="Aptos"/>
              </a:defRPr>
            </a:pPr>
            <a:r>
              <a:rPr sz="1600" b="1"/>
              <a:t>• Checked errors in IDs, coordinates, review counts and dates.</a:t>
            </a:r>
            <a:endParaRPr sz="1600" b="1"/>
          </a:p>
          <a:p>
            <a:pPr>
              <a:spcAft>
                <a:spcPts val="1200"/>
              </a:spcAft>
              <a:defRPr sz="1400">
                <a:solidFill>
                  <a:srgbClr val="2D3034"/>
                </a:solidFill>
                <a:latin typeface="Aptos"/>
              </a:defRPr>
            </a:pPr>
            <a:r>
              <a:rPr sz="1600" b="1"/>
              <a:t>• Kept valid high prices and high minimum-night values instead of treating them as errors.</a:t>
            </a:r>
            <a:endParaRPr sz="1600" b="1"/>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E3F0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3924300" cy="521970"/>
          </a:xfrm>
          <a:prstGeom prst="rect">
            <a:avLst/>
          </a:prstGeom>
          <a:noFill/>
        </p:spPr>
        <p:txBody>
          <a:bodyPr wrap="none">
            <a:spAutoFit/>
          </a:bodyPr>
          <a:lstStyle/>
          <a:p>
            <a:pPr>
              <a:defRPr sz="2800" b="1">
                <a:solidFill>
                  <a:srgbClr val="1D2B3E"/>
                </a:solidFill>
                <a:latin typeface="Aptos Display"/>
              </a:defRPr>
            </a:pPr>
            <a:r>
              <a:t>F</a:t>
            </a:r>
            <a:r>
              <a:rPr lang="en-US"/>
              <a:t>EATURE</a:t>
            </a:r>
            <a:r>
              <a:t> E</a:t>
            </a:r>
            <a:r>
              <a:rPr lang="en-US"/>
              <a:t>NGINEERING</a:t>
            </a:r>
            <a:endParaRPr lang="en-US"/>
          </a:p>
        </p:txBody>
      </p:sp>
      <p:sp>
        <p:nvSpPr>
          <p:cNvPr id="7" name="TextBox 6"/>
          <p:cNvSpPr txBox="1"/>
          <p:nvPr/>
        </p:nvSpPr>
        <p:spPr>
          <a:xfrm>
            <a:off x="777240" y="1163320"/>
            <a:ext cx="10424160" cy="5139055"/>
          </a:xfrm>
          <a:prstGeom prst="rect">
            <a:avLst/>
          </a:prstGeom>
          <a:noFill/>
        </p:spPr>
        <p:txBody>
          <a:bodyPr wrap="square">
            <a:spAutoFit/>
          </a:bodyPr>
          <a:lstStyle/>
          <a:p>
            <a:pPr marL="285750" indent="-285750">
              <a:spcAft>
                <a:spcPts val="1200"/>
              </a:spcAft>
              <a:buFont typeface="Arial" panose="020B0604020202020204" pitchFamily="34" charset="0"/>
              <a:buChar char="•"/>
              <a:defRPr sz="1600">
                <a:solidFill>
                  <a:srgbClr val="2D3034"/>
                </a:solidFill>
                <a:latin typeface="Aptos"/>
              </a:defRPr>
            </a:pPr>
            <a:r>
              <a:rPr lang="en-US" altLang="en-US" b="1"/>
              <a:t>Price Category</a:t>
            </a:r>
            <a:endParaRPr lang="en-US" altLang="en-US" b="1"/>
          </a:p>
          <a:p>
            <a:pPr>
              <a:spcAft>
                <a:spcPts val="1200"/>
              </a:spcAft>
              <a:defRPr sz="1600">
                <a:solidFill>
                  <a:srgbClr val="2D3034"/>
                </a:solidFill>
                <a:latin typeface="Aptos"/>
              </a:defRPr>
            </a:pPr>
            <a:r>
              <a:rPr lang="en-US" altLang="en-US"/>
              <a:t>Budget: Price up to 300</a:t>
            </a:r>
            <a:endParaRPr lang="en-US" altLang="en-US"/>
          </a:p>
          <a:p>
            <a:pPr>
              <a:spcAft>
                <a:spcPts val="1200"/>
              </a:spcAft>
              <a:defRPr sz="1600">
                <a:solidFill>
                  <a:srgbClr val="2D3034"/>
                </a:solidFill>
                <a:latin typeface="Aptos"/>
              </a:defRPr>
            </a:pPr>
            <a:r>
              <a:rPr lang="en-US" altLang="en-US"/>
              <a:t>Standard: Price above 300 and up to 1,000</a:t>
            </a:r>
            <a:endParaRPr lang="en-US" altLang="en-US"/>
          </a:p>
          <a:p>
            <a:pPr>
              <a:spcAft>
                <a:spcPts val="1200"/>
              </a:spcAft>
              <a:defRPr sz="1600">
                <a:solidFill>
                  <a:srgbClr val="2D3034"/>
                </a:solidFill>
                <a:latin typeface="Aptos"/>
              </a:defRPr>
            </a:pPr>
            <a:r>
              <a:rPr lang="en-US" altLang="en-US"/>
              <a:t>Premium: Price above 1,000 and up to 5,000</a:t>
            </a:r>
            <a:endParaRPr lang="en-US" altLang="en-US"/>
          </a:p>
          <a:p>
            <a:pPr>
              <a:spcAft>
                <a:spcPts val="1200"/>
              </a:spcAft>
              <a:defRPr sz="1600">
                <a:solidFill>
                  <a:srgbClr val="2D3034"/>
                </a:solidFill>
                <a:latin typeface="Aptos"/>
              </a:defRPr>
            </a:pPr>
            <a:r>
              <a:rPr lang="en-US" altLang="en-US"/>
              <a:t>Luxury: Price above 5,000</a:t>
            </a:r>
            <a:endParaRPr lang="en-US" altLang="en-US"/>
          </a:p>
          <a:p>
            <a:pPr marL="285750" indent="-285750">
              <a:spcAft>
                <a:spcPts val="1200"/>
              </a:spcAft>
              <a:buFont typeface="Arial" panose="020B0604020202020204" pitchFamily="34" charset="0"/>
              <a:buChar char="•"/>
              <a:defRPr sz="1600">
                <a:solidFill>
                  <a:srgbClr val="2D3034"/>
                </a:solidFill>
                <a:latin typeface="Aptos"/>
              </a:defRPr>
            </a:pPr>
            <a:r>
              <a:rPr lang="en-US" altLang="en-US" b="1"/>
              <a:t>Availability Category</a:t>
            </a:r>
            <a:endParaRPr lang="en-US" altLang="en-US" b="1"/>
          </a:p>
          <a:p>
            <a:pPr>
              <a:spcAft>
                <a:spcPts val="1200"/>
              </a:spcAft>
              <a:defRPr sz="1600">
                <a:solidFill>
                  <a:srgbClr val="2D3034"/>
                </a:solidFill>
                <a:latin typeface="Aptos"/>
              </a:defRPr>
            </a:pPr>
            <a:r>
              <a:rPr lang="en-US" altLang="en-US"/>
              <a:t>Low Availability: Up to 90 days</a:t>
            </a:r>
            <a:endParaRPr lang="en-US" altLang="en-US"/>
          </a:p>
          <a:p>
            <a:pPr>
              <a:spcAft>
                <a:spcPts val="1200"/>
              </a:spcAft>
              <a:defRPr sz="1600">
                <a:solidFill>
                  <a:srgbClr val="2D3034"/>
                </a:solidFill>
                <a:latin typeface="Aptos"/>
              </a:defRPr>
            </a:pPr>
            <a:r>
              <a:rPr lang="en-US" altLang="en-US"/>
              <a:t>Medium Availability: 91–180 days</a:t>
            </a:r>
            <a:endParaRPr lang="en-US" altLang="en-US"/>
          </a:p>
          <a:p>
            <a:pPr>
              <a:spcAft>
                <a:spcPts val="1200"/>
              </a:spcAft>
              <a:defRPr sz="1600">
                <a:solidFill>
                  <a:srgbClr val="2D3034"/>
                </a:solidFill>
                <a:latin typeface="Aptos"/>
              </a:defRPr>
            </a:pPr>
            <a:r>
              <a:rPr lang="en-US" altLang="en-US"/>
              <a:t>High Availability: 181–300 days</a:t>
            </a:r>
            <a:endParaRPr lang="en-US" altLang="en-US"/>
          </a:p>
          <a:p>
            <a:pPr>
              <a:spcAft>
                <a:spcPts val="1200"/>
              </a:spcAft>
              <a:defRPr sz="1600">
                <a:solidFill>
                  <a:srgbClr val="2D3034"/>
                </a:solidFill>
                <a:latin typeface="Aptos"/>
              </a:defRPr>
            </a:pPr>
            <a:r>
              <a:rPr lang="en-US" altLang="en-US"/>
              <a:t>Very High Availability: More than 300 days</a:t>
            </a:r>
            <a:endParaRPr lang="en-US" altLang="en-US"/>
          </a:p>
          <a:p>
            <a:pPr>
              <a:spcAft>
                <a:spcPts val="1200"/>
              </a:spcAft>
              <a:defRPr sz="1600">
                <a:solidFill>
                  <a:srgbClr val="2D3034"/>
                </a:solidFill>
                <a:latin typeface="Aptos"/>
              </a:defRPr>
            </a:pPr>
            <a:r>
              <a:t>•</a:t>
            </a:r>
            <a:r>
              <a:rPr lang="en-US"/>
              <a:t> </a:t>
            </a:r>
            <a:r>
              <a:t>Review Year, Review Month and Review Quarter from</a:t>
            </a:r>
            <a:r>
              <a:rPr b="1"/>
              <a:t> last_review.</a:t>
            </a:r>
            <a:endParaRPr b="1"/>
          </a:p>
          <a:p>
            <a:pPr>
              <a:spcAft>
                <a:spcPts val="1200"/>
              </a:spcAft>
              <a:defRPr sz="1600">
                <a:solidFill>
                  <a:srgbClr val="2D3034"/>
                </a:solidFill>
                <a:latin typeface="Aptos"/>
              </a:defRPr>
            </a:pPr>
            <a:r>
              <a:t>•</a:t>
            </a:r>
            <a:r>
              <a:rPr b="1"/>
              <a:t> Host Portfolio Size</a:t>
            </a:r>
            <a:r>
              <a:t> — 1, 2–5, 6–10, 11–20 and 21+ listings.</a:t>
            </a:r>
          </a:p>
          <a:p>
            <a:pPr>
              <a:spcAft>
                <a:spcPts val="1200"/>
              </a:spcAft>
              <a:defRPr sz="1600">
                <a:solidFill>
                  <a:srgbClr val="2D3034"/>
                </a:solidFill>
                <a:latin typeface="Aptos"/>
              </a:defRPr>
            </a:p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E3F0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609473"/>
            <a:ext cx="10881360" cy="640080"/>
          </a:xfrm>
          <a:prstGeom prst="rect">
            <a:avLst/>
          </a:prstGeom>
          <a:noFill/>
        </p:spPr>
        <p:txBody>
          <a:bodyPr wrap="none">
            <a:spAutoFit/>
          </a:bodyPr>
          <a:lstStyle/>
          <a:p>
            <a:pPr>
              <a:defRPr sz="2800" b="1">
                <a:solidFill>
                  <a:srgbClr val="1D2B3E"/>
                </a:solidFill>
                <a:latin typeface="Aptos Display"/>
              </a:defRPr>
            </a:pPr>
            <a:r>
              <a:t>DAX Measures</a:t>
            </a:r>
          </a:p>
        </p:txBody>
      </p:sp>
      <p:sp>
        <p:nvSpPr>
          <p:cNvPr id="7" name="TextBox 6"/>
          <p:cNvSpPr txBox="1"/>
          <p:nvPr/>
        </p:nvSpPr>
        <p:spPr>
          <a:xfrm>
            <a:off x="777240" y="1600200"/>
            <a:ext cx="10424160" cy="3014980"/>
          </a:xfrm>
          <a:prstGeom prst="rect">
            <a:avLst/>
          </a:prstGeom>
          <a:noFill/>
        </p:spPr>
        <p:txBody>
          <a:bodyPr wrap="square">
            <a:spAutoFit/>
          </a:bodyPr>
          <a:lstStyle/>
          <a:p>
            <a:pPr>
              <a:spcAft>
                <a:spcPts val="1200"/>
              </a:spcAft>
              <a:defRPr sz="1500">
                <a:solidFill>
                  <a:srgbClr val="2D3034"/>
                </a:solidFill>
                <a:latin typeface="Aptos"/>
              </a:defRPr>
            </a:pPr>
            <a:r>
              <a:t>• </a:t>
            </a:r>
            <a:r>
              <a:rPr b="1"/>
              <a:t>Total Listings = DISTINCTCOUNT(id)</a:t>
            </a:r>
            <a:endParaRPr b="1"/>
          </a:p>
          <a:p>
            <a:pPr>
              <a:spcAft>
                <a:spcPts val="1200"/>
              </a:spcAft>
              <a:defRPr sz="1500">
                <a:solidFill>
                  <a:srgbClr val="2D3034"/>
                </a:solidFill>
                <a:latin typeface="Aptos"/>
              </a:defRPr>
            </a:pPr>
            <a:r>
              <a:rPr b="1"/>
              <a:t>• Total Hosts = DISTINCTCOUNT(host_id)</a:t>
            </a:r>
            <a:endParaRPr b="1"/>
          </a:p>
          <a:p>
            <a:pPr>
              <a:spcAft>
                <a:spcPts val="1200"/>
              </a:spcAft>
              <a:defRPr sz="1500">
                <a:solidFill>
                  <a:srgbClr val="2D3034"/>
                </a:solidFill>
                <a:latin typeface="Aptos"/>
              </a:defRPr>
            </a:pPr>
            <a:r>
              <a:rPr b="1"/>
              <a:t>• Average Price = AVERAGE(price)</a:t>
            </a:r>
            <a:endParaRPr b="1"/>
          </a:p>
          <a:p>
            <a:pPr>
              <a:spcAft>
                <a:spcPts val="1200"/>
              </a:spcAft>
              <a:defRPr sz="1500">
                <a:solidFill>
                  <a:srgbClr val="2D3034"/>
                </a:solidFill>
                <a:latin typeface="Aptos"/>
              </a:defRPr>
            </a:pPr>
            <a:r>
              <a:rPr b="1"/>
              <a:t>• Total Reviews = SUM(number_of_reviews)</a:t>
            </a:r>
            <a:endParaRPr b="1"/>
          </a:p>
          <a:p>
            <a:pPr>
              <a:spcAft>
                <a:spcPts val="1200"/>
              </a:spcAft>
              <a:defRPr sz="1500">
                <a:solidFill>
                  <a:srgbClr val="2D3034"/>
                </a:solidFill>
                <a:latin typeface="Aptos"/>
              </a:defRPr>
            </a:pPr>
            <a:r>
              <a:rPr b="1"/>
              <a:t>• Average Reviews per Listing = Total Reviews ÷ Total Listings</a:t>
            </a:r>
            <a:endParaRPr b="1"/>
          </a:p>
          <a:p>
            <a:pPr>
              <a:spcAft>
                <a:spcPts val="1200"/>
              </a:spcAft>
              <a:defRPr sz="1500">
                <a:solidFill>
                  <a:srgbClr val="2D3034"/>
                </a:solidFill>
                <a:latin typeface="Aptos"/>
              </a:defRPr>
            </a:pPr>
            <a:r>
              <a:rPr b="1"/>
              <a:t>• Average Availability = AVERAGE(availability_365)</a:t>
            </a:r>
            <a:endParaRPr b="1"/>
          </a:p>
          <a:p>
            <a:pPr>
              <a:spcAft>
                <a:spcPts val="1200"/>
              </a:spcAft>
              <a:defRPr sz="1500">
                <a:solidFill>
                  <a:srgbClr val="2D3034"/>
                </a:solidFill>
                <a:latin typeface="Aptos"/>
              </a:defRPr>
            </a:pPr>
            <a:r>
              <a:rPr b="1"/>
              <a:t>• Average Minimum Nights = AVERAGE(minimum_nights)</a:t>
            </a:r>
            <a:endParaRPr b="1"/>
          </a:p>
          <a:p>
            <a:pPr>
              <a:spcAft>
                <a:spcPts val="1200"/>
              </a:spcAft>
              <a:defRPr sz="1500">
                <a:solidFill>
                  <a:srgbClr val="2D3034"/>
                </a:solidFill>
                <a:latin typeface="Aptos"/>
              </a:defRPr>
            </a:pPr>
            <a:r>
              <a:rPr b="1"/>
              <a:t>• Average Listings per Host = Total Listings ÷ Total Hosts</a:t>
            </a:r>
            <a:endParaRPr b="1"/>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640080" y="609473"/>
            <a:ext cx="3602355" cy="521970"/>
          </a:xfrm>
          <a:prstGeom prst="rect">
            <a:avLst/>
          </a:prstGeom>
          <a:noFill/>
        </p:spPr>
        <p:txBody>
          <a:bodyPr wrap="none">
            <a:spAutoFit/>
          </a:bodyPr>
          <a:lstStyle/>
          <a:p>
            <a:pPr>
              <a:defRPr sz="2800" b="1">
                <a:solidFill>
                  <a:srgbClr val="1D2B3E"/>
                </a:solidFill>
                <a:latin typeface="Aptos Display"/>
              </a:defRPr>
            </a:pPr>
            <a:r>
              <a:rPr lang="en-US"/>
              <a:t>LIVE DEMOSTRATION</a:t>
            </a:r>
            <a:endParaRPr lang="en-US"/>
          </a:p>
        </p:txBody>
      </p:sp>
      <p:pic>
        <p:nvPicPr>
          <p:cNvPr id="2" name="Picture 1" descr="Screenshot 2026-10-08 184623"/>
          <p:cNvPicPr>
            <a:picLocks noChangeAspect="1"/>
          </p:cNvPicPr>
          <p:nvPr/>
        </p:nvPicPr>
        <p:blipFill>
          <a:blip r:embed="rId1"/>
          <a:stretch>
            <a:fillRect/>
          </a:stretch>
        </p:blipFill>
        <p:spPr>
          <a:xfrm>
            <a:off x="2449195" y="1363980"/>
            <a:ext cx="7292340" cy="413004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E3F0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2942590" cy="521970"/>
          </a:xfrm>
          <a:prstGeom prst="rect">
            <a:avLst/>
          </a:prstGeom>
          <a:noFill/>
        </p:spPr>
        <p:txBody>
          <a:bodyPr wrap="none">
            <a:spAutoFit/>
          </a:bodyPr>
          <a:lstStyle/>
          <a:p>
            <a:pPr>
              <a:defRPr sz="2800" b="1">
                <a:solidFill>
                  <a:srgbClr val="1D2B3E"/>
                </a:solidFill>
                <a:latin typeface="Aptos Display"/>
              </a:defRPr>
            </a:pPr>
            <a:r>
              <a:t> Market Overview</a:t>
            </a:r>
          </a:p>
        </p:txBody>
      </p:sp>
      <p:sp>
        <p:nvSpPr>
          <p:cNvPr id="7" name="TextBox 6"/>
          <p:cNvSpPr txBox="1"/>
          <p:nvPr/>
        </p:nvSpPr>
        <p:spPr>
          <a:xfrm>
            <a:off x="731520" y="1645920"/>
            <a:ext cx="10698480" cy="2731770"/>
          </a:xfrm>
          <a:prstGeom prst="rect">
            <a:avLst/>
          </a:prstGeom>
          <a:noFill/>
        </p:spPr>
        <p:txBody>
          <a:bodyPr wrap="square">
            <a:noAutofit/>
          </a:bodyPr>
          <a:lstStyle/>
          <a:p>
            <a:pPr marL="285750" indent="-285750">
              <a:spcAft>
                <a:spcPts val="1200"/>
              </a:spcAft>
              <a:buFont typeface="Arial" panose="020B0604020202020204" pitchFamily="34" charset="0"/>
              <a:buChar char="•"/>
              <a:defRPr sz="1500">
                <a:solidFill>
                  <a:srgbClr val="2D3034"/>
                </a:solidFill>
                <a:latin typeface="Aptos"/>
              </a:defRPr>
            </a:pPr>
            <a:r>
              <a:rPr lang="en-US" sz="1800"/>
              <a:t>Manhattan and Brooklyn has </a:t>
            </a:r>
            <a:r>
              <a:rPr lang="en-US" sz="1800" b="1"/>
              <a:t>44.3 %</a:t>
            </a:r>
            <a:r>
              <a:rPr lang="en-US" sz="1800"/>
              <a:t> &amp; </a:t>
            </a:r>
            <a:r>
              <a:rPr lang="en-US" sz="1800" b="1"/>
              <a:t>41.7 %</a:t>
            </a:r>
            <a:r>
              <a:rPr lang="en-US" sz="1800"/>
              <a:t> of listings - Hosts may face strong competition.</a:t>
            </a:r>
            <a:endParaRPr sz="1800"/>
          </a:p>
          <a:p>
            <a:pPr marL="285750" indent="-285750">
              <a:spcAft>
                <a:spcPts val="1200"/>
              </a:spcAft>
              <a:buFont typeface="Arial" panose="020B0604020202020204" pitchFamily="34" charset="0"/>
              <a:buChar char="•"/>
              <a:defRPr sz="1500">
                <a:solidFill>
                  <a:srgbClr val="2D3034"/>
                </a:solidFill>
                <a:latin typeface="Aptos"/>
              </a:defRPr>
            </a:pPr>
            <a:r>
              <a:rPr lang="en-US" sz="1800"/>
              <a:t>Staten Island &amp; Brooklyn </a:t>
            </a:r>
            <a:r>
              <a:rPr lang="en-US" sz="1800" b="1"/>
              <a:t>2.2 % </a:t>
            </a:r>
            <a:r>
              <a:rPr lang="en-US" sz="1800"/>
              <a:t>&amp; </a:t>
            </a:r>
            <a:r>
              <a:rPr lang="en-US" sz="1800" b="1"/>
              <a:t>0.8 % </a:t>
            </a:r>
            <a:r>
              <a:rPr lang="en-US" sz="1800"/>
              <a:t>- Examine the transport accessibility.</a:t>
            </a:r>
            <a:endParaRPr lang="en-US" sz="1800"/>
          </a:p>
          <a:p>
            <a:pPr marL="285750" indent="-285750">
              <a:spcAft>
                <a:spcPts val="1200"/>
              </a:spcAft>
              <a:buFont typeface="Arial" panose="020B0604020202020204" pitchFamily="34" charset="0"/>
              <a:buChar char="•"/>
              <a:defRPr sz="1500">
                <a:solidFill>
                  <a:srgbClr val="2D3034"/>
                </a:solidFill>
                <a:latin typeface="Aptos"/>
              </a:defRPr>
            </a:pPr>
            <a:r>
              <a:rPr lang="en-US" altLang="en-US" sz="1800"/>
              <a:t>Budget listings dominate the platform - Compare similar platforms by locations &amp; room type befor e setting price.</a:t>
            </a:r>
            <a:endParaRPr lang="en-US" altLang="en-US" sz="1800"/>
          </a:p>
          <a:p>
            <a:pPr marL="285750" indent="-285750">
              <a:spcAft>
                <a:spcPts val="1200"/>
              </a:spcAft>
              <a:buFont typeface="Arial" panose="020B0604020202020204" pitchFamily="34" charset="0"/>
              <a:buChar char="•"/>
              <a:defRPr sz="1500">
                <a:solidFill>
                  <a:srgbClr val="2D3034"/>
                </a:solidFill>
                <a:latin typeface="Aptos"/>
              </a:defRPr>
            </a:pPr>
            <a:r>
              <a:rPr lang="en-US" altLang="en-US" sz="1800"/>
              <a:t>Manhattan </a:t>
            </a:r>
            <a:r>
              <a:rPr lang="en-US" altLang="en-US" sz="1800" b="1"/>
              <a:t>( 58%)</a:t>
            </a:r>
            <a:r>
              <a:rPr lang="en-US" altLang="en-US" sz="1800"/>
              <a:t> &amp; Brooklyn </a:t>
            </a:r>
            <a:r>
              <a:rPr lang="en-US" altLang="en-US" sz="1800" b="1"/>
              <a:t>( 40%) </a:t>
            </a:r>
            <a:r>
              <a:rPr lang="en-US" altLang="en-US" sz="1800"/>
              <a:t>- Location, visitor demand, property may influence prices.</a:t>
            </a:r>
            <a:endParaRPr lang="en-US" altLang="en-US" sz="1800"/>
          </a:p>
          <a:p>
            <a:pPr marL="285750" indent="-285750">
              <a:spcAft>
                <a:spcPts val="1200"/>
              </a:spcAft>
              <a:buFont typeface="Arial" panose="020B0604020202020204" pitchFamily="34" charset="0"/>
              <a:buChar char="•"/>
              <a:defRPr sz="1500">
                <a:solidFill>
                  <a:srgbClr val="2D3034"/>
                </a:solidFill>
                <a:latin typeface="Aptos"/>
              </a:defRPr>
            </a:pPr>
            <a:r>
              <a:rPr lang="en-US" altLang="en-US" sz="1800"/>
              <a:t>Entire homes prefer privacy - promoting affordable private offers </a:t>
            </a:r>
            <a:endParaRPr lang="en-US" altLang="en-US"/>
          </a:p>
          <a:p>
            <a:pPr indent="0">
              <a:spcAft>
                <a:spcPts val="1200"/>
              </a:spcAft>
              <a:buNone/>
              <a:defRPr sz="1500">
                <a:solidFill>
                  <a:srgbClr val="2D3034"/>
                </a:solidFill>
                <a:latin typeface="Aptos"/>
              </a:defRPr>
            </a:pPr>
          </a:p>
          <a:p>
            <a:pPr indent="0">
              <a:spcAft>
                <a:spcPts val="1200"/>
              </a:spcAft>
              <a:buNone/>
              <a:defRPr sz="1500">
                <a:solidFill>
                  <a:srgbClr val="2D3034"/>
                </a:solidFill>
                <a:latin typeface="Aptos"/>
              </a:defRPr>
            </a:p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E3F0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2985135" cy="521970"/>
          </a:xfrm>
          <a:prstGeom prst="rect">
            <a:avLst/>
          </a:prstGeom>
          <a:noFill/>
        </p:spPr>
        <p:txBody>
          <a:bodyPr wrap="none">
            <a:spAutoFit/>
          </a:bodyPr>
          <a:lstStyle/>
          <a:p>
            <a:pPr>
              <a:defRPr sz="2800" b="1">
                <a:solidFill>
                  <a:srgbClr val="1D2B3E"/>
                </a:solidFill>
                <a:latin typeface="Aptos Display"/>
              </a:defRPr>
            </a:pPr>
            <a:r>
              <a:t> Location Analysis</a:t>
            </a:r>
          </a:p>
        </p:txBody>
      </p:sp>
      <p:sp>
        <p:nvSpPr>
          <p:cNvPr id="7" name="TextBox 6"/>
          <p:cNvSpPr txBox="1"/>
          <p:nvPr/>
        </p:nvSpPr>
        <p:spPr>
          <a:xfrm>
            <a:off x="731520" y="1645920"/>
            <a:ext cx="10698480" cy="3353435"/>
          </a:xfrm>
          <a:prstGeom prst="rect">
            <a:avLst/>
          </a:prstGeom>
          <a:noFill/>
        </p:spPr>
        <p:txBody>
          <a:bodyPr wrap="square">
            <a:spAutoFit/>
          </a:bodyPr>
          <a:lstStyle/>
          <a:p>
            <a:pPr>
              <a:spcAft>
                <a:spcPts val="1200"/>
              </a:spcAft>
              <a:defRPr sz="1500">
                <a:solidFill>
                  <a:srgbClr val="2D3034"/>
                </a:solidFill>
                <a:latin typeface="Aptos"/>
              </a:defRPr>
            </a:pPr>
            <a:r>
              <a:rPr lang="en-US" altLang="en-US" sz="1800"/>
              <a:t>Fort Wadsworth (</a:t>
            </a:r>
            <a:r>
              <a:rPr lang="en-US" altLang="en-US" sz="1800" b="1"/>
              <a:t>800</a:t>
            </a:r>
            <a:r>
              <a:rPr lang="en-US" altLang="en-US" sz="1800"/>
              <a:t> Average Price)</a:t>
            </a:r>
            <a:r>
              <a:rPr lang="en-US" sz="1800"/>
              <a:t>  &amp;  Woodrow come under staten island -  low listings &amp; price increse the average.</a:t>
            </a:r>
            <a:endParaRPr lang="en-US" sz="1800"/>
          </a:p>
          <a:p>
            <a:pPr>
              <a:spcAft>
                <a:spcPts val="1200"/>
              </a:spcAft>
              <a:defRPr sz="1500">
                <a:solidFill>
                  <a:srgbClr val="2D3034"/>
                </a:solidFill>
                <a:latin typeface="Aptos"/>
              </a:defRPr>
            </a:pPr>
            <a:r>
              <a:rPr lang="en-US" altLang="en-US" sz="1800"/>
              <a:t>Higher prices may reflect property characteristics, limited supply or local demand</a:t>
            </a:r>
            <a:endParaRPr lang="en-US" altLang="en-US" sz="1800"/>
          </a:p>
          <a:p>
            <a:pPr>
              <a:spcAft>
                <a:spcPts val="1200"/>
              </a:spcAft>
              <a:defRPr sz="1500">
                <a:solidFill>
                  <a:srgbClr val="2D3034"/>
                </a:solidFill>
                <a:latin typeface="Aptos"/>
              </a:defRPr>
            </a:pPr>
            <a:r>
              <a:rPr lang="en-US" altLang="en-US" sz="1800"/>
              <a:t>Manhattan and Brooklyn have the largest number of listings across room types</a:t>
            </a:r>
            <a:r>
              <a:rPr lang="en-US" sz="1800"/>
              <a:t> - Make sure of services &amp; Maintain the quality</a:t>
            </a:r>
            <a:endParaRPr lang="en-US" sz="1800"/>
          </a:p>
          <a:p>
            <a:pPr>
              <a:spcAft>
                <a:spcPts val="1200"/>
              </a:spcAft>
              <a:defRPr sz="1500">
                <a:solidFill>
                  <a:srgbClr val="2D3034"/>
                </a:solidFill>
                <a:latin typeface="Aptos"/>
              </a:defRPr>
            </a:pPr>
            <a:r>
              <a:rPr lang="en-US" altLang="en-US" sz="1800"/>
              <a:t>Williamsburg and Bedford-Stuyvesant lead the</a:t>
            </a:r>
            <a:r>
              <a:rPr lang="en-US" sz="1800"/>
              <a:t> listings - </a:t>
            </a:r>
            <a:r>
              <a:rPr lang="en-US" altLang="en-US" sz="1800"/>
              <a:t>Monitor competition and service quality , investigate demand before expanding elsewhere,Sustainable growth.</a:t>
            </a:r>
            <a:endParaRPr lang="en-US" altLang="en-US" sz="1800"/>
          </a:p>
          <a:p>
            <a:pPr>
              <a:spcAft>
                <a:spcPts val="1200"/>
              </a:spcAft>
              <a:defRPr sz="1500">
                <a:solidFill>
                  <a:srgbClr val="2D3034"/>
                </a:solidFill>
                <a:latin typeface="Aptos"/>
              </a:defRPr>
            </a:pPr>
            <a:endParaRPr lang="en-US" altLang="en-US" sz="1800"/>
          </a:p>
          <a:p>
            <a:pPr>
              <a:spcAft>
                <a:spcPts val="1200"/>
              </a:spcAft>
              <a:defRPr sz="1500">
                <a:solidFill>
                  <a:srgbClr val="2D3034"/>
                </a:solidFill>
                <a:latin typeface="Aptos"/>
              </a:defRPr>
            </a:pPr>
            <a:r>
              <a:rPr lang="en-US" sz="1800"/>
              <a:t>  </a:t>
            </a:r>
            <a:endParaRPr lang="en-US" sz="18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E3F0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2677160" cy="521970"/>
          </a:xfrm>
          <a:prstGeom prst="rect">
            <a:avLst/>
          </a:prstGeom>
          <a:noFill/>
        </p:spPr>
        <p:txBody>
          <a:bodyPr wrap="none">
            <a:spAutoFit/>
          </a:bodyPr>
          <a:lstStyle/>
          <a:p>
            <a:pPr>
              <a:defRPr sz="2800" b="1">
                <a:solidFill>
                  <a:srgbClr val="1D2B3E"/>
                </a:solidFill>
                <a:latin typeface="Aptos Display"/>
              </a:defRPr>
            </a:pPr>
            <a:r>
              <a:t>Room &amp; Pricing</a:t>
            </a:r>
          </a:p>
        </p:txBody>
      </p:sp>
      <p:sp>
        <p:nvSpPr>
          <p:cNvPr id="7" name="TextBox 6"/>
          <p:cNvSpPr txBox="1"/>
          <p:nvPr/>
        </p:nvSpPr>
        <p:spPr>
          <a:xfrm>
            <a:off x="731520" y="1645920"/>
            <a:ext cx="10698480" cy="3507740"/>
          </a:xfrm>
          <a:prstGeom prst="rect">
            <a:avLst/>
          </a:prstGeom>
          <a:noFill/>
        </p:spPr>
        <p:txBody>
          <a:bodyPr wrap="square">
            <a:spAutoFit/>
          </a:bodyPr>
          <a:lstStyle/>
          <a:p>
            <a:pPr marL="285750" indent="-285750">
              <a:spcAft>
                <a:spcPts val="1200"/>
              </a:spcAft>
              <a:buFont typeface="Arial" panose="020B0604020202020204" pitchFamily="34" charset="0"/>
              <a:buChar char="•"/>
              <a:defRPr sz="1500">
                <a:solidFill>
                  <a:srgbClr val="2D3034"/>
                </a:solidFill>
                <a:latin typeface="Aptos"/>
              </a:defRPr>
            </a:pPr>
            <a:r>
              <a:rPr sz="1800"/>
              <a:t>The scatter plot compares minimum nights and price for individual listings grouped by listing ID.</a:t>
            </a:r>
            <a:endParaRPr sz="1800"/>
          </a:p>
          <a:p>
            <a:pPr marL="285750" indent="-285750">
              <a:spcAft>
                <a:spcPts val="1200"/>
              </a:spcAft>
              <a:buFont typeface="Arial" panose="020B0604020202020204" pitchFamily="34" charset="0"/>
              <a:buChar char="•"/>
              <a:defRPr sz="1500">
                <a:solidFill>
                  <a:srgbClr val="2D3034"/>
                </a:solidFill>
                <a:latin typeface="Aptos"/>
              </a:defRPr>
            </a:pPr>
            <a:r>
              <a:rPr lang="en-US" altLang="en-US" sz="1800"/>
              <a:t>Entire homes/apartments(</a:t>
            </a:r>
            <a:r>
              <a:rPr lang="en-US" altLang="en-US" sz="1800" b="1"/>
              <a:t>8.5 </a:t>
            </a:r>
            <a:r>
              <a:rPr lang="en-US" altLang="en-US" sz="1800"/>
              <a:t>days) have the highest average minimum-night requirement - Prefer Offers.</a:t>
            </a:r>
            <a:endParaRPr lang="en-US" altLang="en-US" sz="1800"/>
          </a:p>
          <a:p>
            <a:pPr marL="285750" indent="-285750">
              <a:spcAft>
                <a:spcPts val="1200"/>
              </a:spcAft>
              <a:buFont typeface="Arial" panose="020B0604020202020204" pitchFamily="34" charset="0"/>
              <a:buChar char="•"/>
              <a:defRPr sz="1500">
                <a:solidFill>
                  <a:srgbClr val="2D3034"/>
                </a:solidFill>
                <a:latin typeface="Aptos"/>
              </a:defRPr>
            </a:pPr>
            <a:r>
              <a:rPr lang="en-US" altLang="en-US" sz="1800"/>
              <a:t>Room type - consistent checking prices of near by hosts.</a:t>
            </a:r>
            <a:endParaRPr lang="en-US" altLang="en-US" sz="1800"/>
          </a:p>
          <a:p>
            <a:pPr marL="285750" indent="-285750">
              <a:spcAft>
                <a:spcPts val="1200"/>
              </a:spcAft>
              <a:buFont typeface="Arial" panose="020B0604020202020204" pitchFamily="34" charset="0"/>
              <a:buChar char="•"/>
              <a:defRPr sz="1500">
                <a:solidFill>
                  <a:srgbClr val="2D3034"/>
                </a:solidFill>
                <a:latin typeface="Aptos"/>
              </a:defRPr>
            </a:pPr>
            <a:r>
              <a:rPr lang="en-US" altLang="en-US" sz="1800"/>
              <a:t>Entire homes/apartments have the highest average price (</a:t>
            </a:r>
            <a:r>
              <a:rPr lang="en-US" altLang="en-US" sz="1800" b="1"/>
              <a:t>210</a:t>
            </a:r>
            <a:r>
              <a:rPr lang="en-US" altLang="en-US" sz="1800"/>
              <a:t>), private rooms (</a:t>
            </a:r>
            <a:r>
              <a:rPr lang="en-US" altLang="en-US" sz="1800" b="1"/>
              <a:t>90</a:t>
            </a:r>
            <a:r>
              <a:rPr lang="en-US" altLang="en-US" sz="1800"/>
              <a:t>) and shared rooms ( </a:t>
            </a:r>
            <a:r>
              <a:rPr lang="en-US" altLang="en-US" sz="1800" b="1"/>
              <a:t>70</a:t>
            </a:r>
            <a:r>
              <a:rPr lang="en-US" altLang="en-US" sz="1800"/>
              <a:t>) - Compare prices within each room type and neighbourhood.</a:t>
            </a:r>
            <a:endParaRPr lang="en-US" altLang="en-US" sz="1800"/>
          </a:p>
          <a:p>
            <a:pPr>
              <a:spcAft>
                <a:spcPts val="1200"/>
              </a:spcAft>
              <a:defRPr sz="1500">
                <a:solidFill>
                  <a:srgbClr val="2D3034"/>
                </a:solidFill>
                <a:latin typeface="Aptos"/>
              </a:defRPr>
            </a:pPr>
            <a:endParaRPr lang="en-US" altLang="en-US" sz="1800"/>
          </a:p>
          <a:p>
            <a:pPr>
              <a:spcAft>
                <a:spcPts val="1200"/>
              </a:spcAft>
              <a:defRPr sz="1500">
                <a:solidFill>
                  <a:srgbClr val="2D3034"/>
                </a:solidFill>
                <a:latin typeface="Aptos"/>
              </a:defRPr>
            </a:pPr>
            <a:endParaRPr lang="en-US" altLang="en-US" sz="1800"/>
          </a:p>
          <a:p>
            <a:pPr>
              <a:spcAft>
                <a:spcPts val="1200"/>
              </a:spcAft>
              <a:defRPr sz="1500">
                <a:solidFill>
                  <a:srgbClr val="2D3034"/>
                </a:solidFill>
                <a:latin typeface="Aptos"/>
              </a:defRPr>
            </a:pPr>
            <a:endParaRPr sz="18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E3F0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3112135" cy="521970"/>
          </a:xfrm>
          <a:prstGeom prst="rect">
            <a:avLst/>
          </a:prstGeom>
          <a:noFill/>
        </p:spPr>
        <p:txBody>
          <a:bodyPr wrap="none">
            <a:spAutoFit/>
          </a:bodyPr>
          <a:lstStyle/>
          <a:p>
            <a:pPr>
              <a:defRPr sz="2800" b="1">
                <a:solidFill>
                  <a:srgbClr val="1D2B3E"/>
                </a:solidFill>
                <a:latin typeface="Aptos Display"/>
              </a:defRPr>
            </a:pPr>
            <a:r>
              <a:t> Host Performance</a:t>
            </a:r>
          </a:p>
        </p:txBody>
      </p:sp>
      <p:sp>
        <p:nvSpPr>
          <p:cNvPr id="7" name="TextBox 6"/>
          <p:cNvSpPr txBox="1"/>
          <p:nvPr/>
        </p:nvSpPr>
        <p:spPr>
          <a:xfrm>
            <a:off x="731520" y="1600200"/>
            <a:ext cx="10698480" cy="2646045"/>
          </a:xfrm>
          <a:prstGeom prst="rect">
            <a:avLst/>
          </a:prstGeom>
          <a:noFill/>
        </p:spPr>
        <p:txBody>
          <a:bodyPr wrap="square">
            <a:spAutoFit/>
          </a:bodyPr>
          <a:lstStyle/>
          <a:p>
            <a:pPr marL="285750" indent="-285750">
              <a:spcAft>
                <a:spcPts val="1200"/>
              </a:spcAft>
              <a:buFont typeface="Arial" panose="020B0604020202020204" pitchFamily="34" charset="0"/>
              <a:buChar char="•"/>
              <a:defRPr sz="1400">
                <a:solidFill>
                  <a:srgbClr val="2D3034"/>
                </a:solidFill>
                <a:latin typeface="Aptos"/>
              </a:defRPr>
            </a:pPr>
            <a:r>
              <a:rPr lang="en-US" sz="1800"/>
              <a:t>Sonder - Average list </a:t>
            </a:r>
            <a:r>
              <a:rPr lang="en-US" sz="1800" b="1"/>
              <a:t>(327) &amp; </a:t>
            </a:r>
            <a:r>
              <a:rPr lang="en-US" sz="1800"/>
              <a:t>Average reviews </a:t>
            </a:r>
            <a:r>
              <a:rPr lang="en-US" sz="1800" b="1"/>
              <a:t>(3.9)</a:t>
            </a:r>
            <a:endParaRPr lang="en-US" sz="1800" b="1"/>
          </a:p>
          <a:p>
            <a:pPr marL="285750" indent="-285750">
              <a:spcAft>
                <a:spcPts val="1200"/>
              </a:spcAft>
              <a:buFont typeface="Arial" panose="020B0604020202020204" pitchFamily="34" charset="0"/>
              <a:buChar char="•"/>
              <a:defRPr sz="1400">
                <a:solidFill>
                  <a:srgbClr val="2D3034"/>
                </a:solidFill>
                <a:latin typeface="Aptos"/>
              </a:defRPr>
            </a:pPr>
            <a:r>
              <a:rPr lang="en-US" sz="1800"/>
              <a:t>Dona  - Average list </a:t>
            </a:r>
            <a:r>
              <a:rPr lang="en-US" sz="1800" b="1"/>
              <a:t>(2) &amp; </a:t>
            </a:r>
            <a:r>
              <a:rPr lang="en-US" sz="1800">
                <a:sym typeface="+mn-ea"/>
              </a:rPr>
              <a:t>Average </a:t>
            </a:r>
            <a:r>
              <a:rPr lang="en-US" sz="1800"/>
              <a:t>reviews </a:t>
            </a:r>
            <a:r>
              <a:rPr lang="en-US" sz="1800" b="1"/>
              <a:t>(602)</a:t>
            </a:r>
            <a:endParaRPr lang="en-US" sz="1800" b="1"/>
          </a:p>
          <a:p>
            <a:pPr marL="285750" indent="-285750">
              <a:spcAft>
                <a:spcPts val="1200"/>
              </a:spcAft>
              <a:buFont typeface="Arial" panose="020B0604020202020204" pitchFamily="34" charset="0"/>
              <a:buChar char="•"/>
              <a:defRPr sz="1400">
                <a:solidFill>
                  <a:srgbClr val="2D3034"/>
                </a:solidFill>
                <a:latin typeface="Aptos"/>
              </a:defRPr>
            </a:pPr>
            <a:r>
              <a:rPr lang="en-US" altLang="en-US" sz="1800"/>
              <a:t>Better guest experiences and potential review growth, Monitor portfolio-wide quality and availability,Better guest engagement and potentially more reviews.</a:t>
            </a:r>
            <a:endParaRPr lang="en-US" altLang="en-US" sz="1800"/>
          </a:p>
          <a:p>
            <a:pPr marL="285750" indent="-285750">
              <a:spcAft>
                <a:spcPts val="1200"/>
              </a:spcAft>
              <a:buFont typeface="Arial" panose="020B0604020202020204" pitchFamily="34" charset="0"/>
              <a:buChar char="•"/>
              <a:defRPr sz="1400">
                <a:solidFill>
                  <a:srgbClr val="2D3034"/>
                </a:solidFill>
                <a:latin typeface="Aptos"/>
              </a:defRPr>
            </a:pPr>
            <a:r>
              <a:rPr lang="en-US" altLang="en-US" sz="1800"/>
              <a:t>Lot of hosts are single hosts.</a:t>
            </a:r>
            <a:endParaRPr lang="en-US" altLang="en-US" sz="1800"/>
          </a:p>
          <a:p>
            <a:pPr marL="285750" indent="-285750">
              <a:spcAft>
                <a:spcPts val="1200"/>
              </a:spcAft>
              <a:buFont typeface="Arial" panose="020B0604020202020204" pitchFamily="34" charset="0"/>
              <a:buChar char="•"/>
              <a:defRPr sz="1400">
                <a:solidFill>
                  <a:srgbClr val="2D3034"/>
                </a:solidFill>
                <a:latin typeface="Aptos"/>
              </a:defRPr>
            </a:pPr>
            <a:r>
              <a:rPr lang="en-US" altLang="en-US" sz="1800"/>
              <a:t>The platform has approximately </a:t>
            </a:r>
            <a:r>
              <a:rPr lang="en-US" altLang="en-US" sz="1800" b="1"/>
              <a:t>37K</a:t>
            </a:r>
            <a:r>
              <a:rPr lang="en-US" altLang="en-US" sz="1800"/>
              <a:t> hosts, an average of </a:t>
            </a:r>
            <a:r>
              <a:rPr lang="en-US" altLang="en-US" sz="1800" b="1"/>
              <a:t>1.30</a:t>
            </a:r>
            <a:r>
              <a:rPr lang="en-US" altLang="en-US" sz="1800"/>
              <a:t> listings per host and</a:t>
            </a:r>
            <a:r>
              <a:rPr lang="en-US" altLang="en-US" sz="1800" b="1"/>
              <a:t> 23.25</a:t>
            </a:r>
            <a:r>
              <a:rPr lang="en-US" altLang="en-US" sz="1800"/>
              <a:t> reviews per listing.</a:t>
            </a:r>
            <a:endParaRPr lang="en-US" altLang="en-US" sz="18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E3F0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3717925" cy="521970"/>
          </a:xfrm>
          <a:prstGeom prst="rect">
            <a:avLst/>
          </a:prstGeom>
          <a:noFill/>
        </p:spPr>
        <p:txBody>
          <a:bodyPr wrap="none">
            <a:spAutoFit/>
          </a:bodyPr>
          <a:lstStyle/>
          <a:p>
            <a:pPr>
              <a:defRPr sz="2800" b="1">
                <a:solidFill>
                  <a:srgbClr val="1D2B3E"/>
                </a:solidFill>
                <a:latin typeface="Aptos Display"/>
              </a:defRPr>
            </a:pPr>
            <a:r>
              <a:t> Reviews &amp; Availability</a:t>
            </a:r>
          </a:p>
        </p:txBody>
      </p:sp>
      <p:sp>
        <p:nvSpPr>
          <p:cNvPr id="7" name="TextBox 6"/>
          <p:cNvSpPr txBox="1"/>
          <p:nvPr/>
        </p:nvSpPr>
        <p:spPr>
          <a:xfrm>
            <a:off x="832485" y="1701800"/>
            <a:ext cx="10698480" cy="2646045"/>
          </a:xfrm>
          <a:prstGeom prst="rect">
            <a:avLst/>
          </a:prstGeom>
          <a:noFill/>
        </p:spPr>
        <p:txBody>
          <a:bodyPr wrap="square">
            <a:spAutoFit/>
          </a:bodyPr>
          <a:lstStyle/>
          <a:p>
            <a:pPr marL="285750" indent="-285750">
              <a:spcAft>
                <a:spcPts val="1200"/>
              </a:spcAft>
              <a:buFont typeface="Arial" panose="020B0604020202020204" pitchFamily="34" charset="0"/>
              <a:buChar char="•"/>
              <a:defRPr sz="1400">
                <a:solidFill>
                  <a:srgbClr val="2D3034"/>
                </a:solidFill>
                <a:latin typeface="Aptos"/>
              </a:defRPr>
            </a:pPr>
            <a:r>
              <a:rPr lang="en-US" sz="1800" b="1"/>
              <a:t>2018</a:t>
            </a:r>
            <a:r>
              <a:rPr lang="en-US" sz="1800"/>
              <a:t> has highest reviews.</a:t>
            </a:r>
            <a:endParaRPr lang="en-US" sz="1800"/>
          </a:p>
          <a:p>
            <a:pPr marL="285750" indent="-285750">
              <a:spcAft>
                <a:spcPts val="1200"/>
              </a:spcAft>
              <a:buFont typeface="Arial" panose="020B0604020202020204" pitchFamily="34" charset="0"/>
              <a:buChar char="•"/>
              <a:defRPr sz="1400">
                <a:solidFill>
                  <a:srgbClr val="2D3034"/>
                </a:solidFill>
                <a:latin typeface="Aptos"/>
              </a:defRPr>
            </a:pPr>
            <a:r>
              <a:rPr lang="en-US" altLang="en-US" sz="1800"/>
              <a:t>Availability alone does not determine guest reviews; demand, location, quality and booking frequency may also matter - improvements in listing visibility and guest appeal.</a:t>
            </a:r>
            <a:endParaRPr lang="en-US" altLang="en-US" sz="1800"/>
          </a:p>
          <a:p>
            <a:pPr marL="285750" indent="-285750">
              <a:spcAft>
                <a:spcPts val="1200"/>
              </a:spcAft>
              <a:buFont typeface="Arial" panose="020B0604020202020204" pitchFamily="34" charset="0"/>
              <a:buChar char="•"/>
              <a:defRPr sz="1400">
                <a:solidFill>
                  <a:srgbClr val="2D3034"/>
                </a:solidFill>
                <a:latin typeface="Aptos"/>
              </a:defRPr>
            </a:pPr>
            <a:r>
              <a:rPr lang="en-US" altLang="en-US" sz="1800"/>
              <a:t>Brooklyn has highest review but 2nd in listings.</a:t>
            </a:r>
            <a:endParaRPr lang="en-US" altLang="en-US" sz="1800"/>
          </a:p>
          <a:p>
            <a:pPr marL="285750" indent="-285750">
              <a:spcAft>
                <a:spcPts val="1200"/>
              </a:spcAft>
              <a:buFont typeface="Arial" panose="020B0604020202020204" pitchFamily="34" charset="0"/>
              <a:buChar char="•"/>
              <a:defRPr sz="1400">
                <a:solidFill>
                  <a:srgbClr val="2D3034"/>
                </a:solidFill>
                <a:latin typeface="Aptos"/>
              </a:defRPr>
            </a:pPr>
            <a:r>
              <a:rPr lang="en-US" altLang="en-US" sz="1800"/>
              <a:t>Average Avalaible days shared room</a:t>
            </a:r>
            <a:r>
              <a:rPr lang="en-US" altLang="en-US" sz="1800" b="1"/>
              <a:t> ( 160 days)</a:t>
            </a:r>
            <a:r>
              <a:rPr lang="en-US" altLang="en-US" sz="1800"/>
              <a:t> - Hosta offers packages.</a:t>
            </a:r>
            <a:endParaRPr lang="en-US" altLang="en-US" sz="1800"/>
          </a:p>
          <a:p>
            <a:pPr marL="285750" indent="-285750">
              <a:spcAft>
                <a:spcPts val="1200"/>
              </a:spcAft>
              <a:buFont typeface="Arial" panose="020B0604020202020204" pitchFamily="34" charset="0"/>
              <a:buChar char="•"/>
              <a:defRPr sz="1400">
                <a:solidFill>
                  <a:srgbClr val="2D3034"/>
                </a:solidFill>
                <a:latin typeface="Aptos"/>
              </a:defRPr>
            </a:pPr>
            <a:r>
              <a:rPr lang="en-US" altLang="en-US" sz="1800"/>
              <a:t>Low-availability listings</a:t>
            </a:r>
            <a:r>
              <a:rPr lang="en-US" altLang="en-US" sz="1800" b="1"/>
              <a:t>(UP TO 90)</a:t>
            </a:r>
            <a:r>
              <a:rPr lang="en-US" altLang="en-US" sz="1800"/>
              <a:t> form the largest group, followed by very-high</a:t>
            </a:r>
            <a:r>
              <a:rPr lang="en-US" altLang="en-US" sz="1800" b="1"/>
              <a:t>(ABOVE 300 DAYS)</a:t>
            </a:r>
            <a:r>
              <a:rPr lang="en-US" altLang="en-US" sz="1800"/>
              <a:t>, high and medium availability - Tickets are unavailable or hosts blocked ticket should be investigated.</a:t>
            </a:r>
            <a:endParaRPr lang="en-US" altLang="en-US" sz="18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E3F0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881360" cy="640080"/>
          </a:xfrm>
          <a:prstGeom prst="rect">
            <a:avLst/>
          </a:prstGeom>
          <a:noFill/>
        </p:spPr>
        <p:txBody>
          <a:bodyPr wrap="none">
            <a:spAutoFit/>
          </a:bodyPr>
          <a:lstStyle/>
          <a:p>
            <a:pPr>
              <a:defRPr sz="2800" b="1">
                <a:solidFill>
                  <a:srgbClr val="1D2B3E"/>
                </a:solidFill>
                <a:latin typeface="Aptos Display"/>
              </a:defRPr>
            </a:pPr>
            <a:r>
              <a:t>Recommendations</a:t>
            </a:r>
          </a:p>
        </p:txBody>
      </p:sp>
      <p:sp>
        <p:nvSpPr>
          <p:cNvPr id="7" name="TextBox 6"/>
          <p:cNvSpPr txBox="1"/>
          <p:nvPr/>
        </p:nvSpPr>
        <p:spPr>
          <a:xfrm>
            <a:off x="731520" y="1645920"/>
            <a:ext cx="10698480" cy="2784475"/>
          </a:xfrm>
          <a:prstGeom prst="rect">
            <a:avLst/>
          </a:prstGeom>
          <a:noFill/>
        </p:spPr>
        <p:txBody>
          <a:bodyPr wrap="square">
            <a:spAutoFit/>
          </a:bodyPr>
          <a:lstStyle/>
          <a:p>
            <a:pPr marL="285750" indent="-285750">
              <a:spcAft>
                <a:spcPts val="1200"/>
              </a:spcAft>
              <a:buFont typeface="Arial" panose="020B0604020202020204" pitchFamily="34" charset="0"/>
              <a:buChar char="•"/>
              <a:defRPr sz="1500">
                <a:solidFill>
                  <a:srgbClr val="2D3034"/>
                </a:solidFill>
                <a:latin typeface="Aptos"/>
              </a:defRPr>
            </a:pPr>
            <a:r>
              <a:rPr lang="en-US" altLang="en-US" b="1"/>
              <a:t>Improve Listing Coverage</a:t>
            </a:r>
            <a:r>
              <a:rPr lang="en-US" altLang="en-US"/>
              <a:t>: Promote Airbnb hosting opportunities in areas with fewer listings, such as the Bronx and Staten Island, after checking local demand.</a:t>
            </a:r>
            <a:endParaRPr lang="en-US" altLang="en-US"/>
          </a:p>
          <a:p>
            <a:pPr marL="285750" indent="-285750">
              <a:spcAft>
                <a:spcPts val="1200"/>
              </a:spcAft>
              <a:buFont typeface="Arial" panose="020B0604020202020204" pitchFamily="34" charset="0"/>
              <a:buChar char="•"/>
              <a:defRPr sz="1500">
                <a:solidFill>
                  <a:srgbClr val="2D3034"/>
                </a:solidFill>
                <a:latin typeface="Aptos"/>
              </a:defRPr>
            </a:pPr>
            <a:r>
              <a:rPr lang="en-US" altLang="en-US" b="1"/>
              <a:t>Optimize Pricing</a:t>
            </a:r>
            <a:r>
              <a:rPr lang="en-US" altLang="en-US"/>
              <a:t>: Encourage hosts to compare prices with similar properties in the same neighbourhood and room type.</a:t>
            </a:r>
            <a:endParaRPr lang="en-US" altLang="en-US"/>
          </a:p>
          <a:p>
            <a:pPr marL="285750" indent="-285750">
              <a:spcAft>
                <a:spcPts val="1200"/>
              </a:spcAft>
              <a:buFont typeface="Arial" panose="020B0604020202020204" pitchFamily="34" charset="0"/>
              <a:buChar char="•"/>
              <a:defRPr sz="1500">
                <a:solidFill>
                  <a:srgbClr val="2D3034"/>
                </a:solidFill>
                <a:latin typeface="Aptos"/>
              </a:defRPr>
            </a:pPr>
            <a:r>
              <a:rPr lang="en-US" altLang="en-US" b="1"/>
              <a:t>Improve Guest Experience</a:t>
            </a:r>
            <a:r>
              <a:rPr lang="en-US" altLang="en-US"/>
              <a:t>: Help hosts improve cleanliness, communication and listing descriptions to encourage positive reviews.</a:t>
            </a:r>
            <a:endParaRPr lang="en-US" altLang="en-US"/>
          </a:p>
          <a:p>
            <a:pPr marL="285750" indent="-285750">
              <a:spcAft>
                <a:spcPts val="1200"/>
              </a:spcAft>
              <a:buFont typeface="Arial" panose="020B0604020202020204" pitchFamily="34" charset="0"/>
              <a:buChar char="•"/>
              <a:defRPr sz="1500">
                <a:solidFill>
                  <a:srgbClr val="2D3034"/>
                </a:solidFill>
                <a:latin typeface="Aptos"/>
              </a:defRPr>
            </a:pPr>
            <a:r>
              <a:rPr lang="en-US" altLang="en-US" b="1"/>
              <a:t>Support Small Hosts</a:t>
            </a:r>
            <a:r>
              <a:rPr lang="en-US" altLang="en-US"/>
              <a:t>: Provide simple guidance on pricing, availability management and property presentation to hosts managing one listing.</a:t>
            </a:r>
            <a:endParaRPr lang="en-US" altLang="en-US"/>
          </a:p>
          <a:p>
            <a:pPr marL="285750" indent="-285750">
              <a:spcAft>
                <a:spcPts val="1200"/>
              </a:spcAft>
              <a:buFont typeface="Arial" panose="020B0604020202020204" pitchFamily="34" charset="0"/>
              <a:buChar char="•"/>
              <a:defRPr sz="1500">
                <a:solidFill>
                  <a:srgbClr val="2D3034"/>
                </a:solidFill>
                <a:latin typeface="Aptos"/>
              </a:defRPr>
            </a:pPr>
            <a:r>
              <a:rPr lang="en-US" altLang="en-US" b="1"/>
              <a:t>Review Availability</a:t>
            </a:r>
            <a:r>
              <a:rPr lang="en-US" altLang="en-US"/>
              <a:t>: Investigate listings with high availability and low review counts to identify possible booking or visibility issues.</a:t>
            </a:r>
            <a:endParaRPr lang="en-US"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E3F0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881360" cy="640080"/>
          </a:xfrm>
          <a:prstGeom prst="rect">
            <a:avLst/>
          </a:prstGeom>
          <a:noFill/>
        </p:spPr>
        <p:txBody>
          <a:bodyPr wrap="none">
            <a:spAutoFit/>
          </a:bodyPr>
          <a:lstStyle/>
          <a:p>
            <a:pPr>
              <a:defRPr sz="2800" b="1">
                <a:solidFill>
                  <a:srgbClr val="1D2B3E"/>
                </a:solidFill>
                <a:latin typeface="Aptos Display"/>
              </a:defRPr>
            </a:pPr>
            <a:r>
              <a:t>Conclusion</a:t>
            </a:r>
          </a:p>
        </p:txBody>
      </p:sp>
      <p:sp>
        <p:nvSpPr>
          <p:cNvPr id="7" name="TextBox 6"/>
          <p:cNvSpPr txBox="1"/>
          <p:nvPr/>
        </p:nvSpPr>
        <p:spPr>
          <a:xfrm>
            <a:off x="777240" y="1737360"/>
            <a:ext cx="10332720" cy="2538095"/>
          </a:xfrm>
          <a:prstGeom prst="rect">
            <a:avLst/>
          </a:prstGeom>
          <a:noFill/>
        </p:spPr>
        <p:txBody>
          <a:bodyPr wrap="square">
            <a:spAutoFit/>
          </a:bodyPr>
          <a:lstStyle/>
          <a:p>
            <a:pPr marL="285750" indent="-285750">
              <a:spcAft>
                <a:spcPts val="1200"/>
              </a:spcAft>
              <a:buFont typeface="Arial" panose="020B0604020202020204" pitchFamily="34" charset="0"/>
              <a:buChar char="•"/>
              <a:defRPr sz="1700">
                <a:solidFill>
                  <a:srgbClr val="2D3034"/>
                </a:solidFill>
                <a:latin typeface="Aptos"/>
              </a:defRPr>
            </a:pPr>
            <a:r>
              <a:rPr lang="en-US" altLang="en-US"/>
              <a:t>This project converts Airbnb listing data into useful business insights using Power BI. These insights can help management make better decisions about pricing, host support, guest experience and future market growth.</a:t>
            </a:r>
            <a:endParaRPr lang="en-US" altLang="en-US"/>
          </a:p>
          <a:p>
            <a:pPr marL="285750" indent="-285750">
              <a:spcAft>
                <a:spcPts val="1200"/>
              </a:spcAft>
              <a:buFont typeface="Arial" panose="020B0604020202020204" pitchFamily="34" charset="0"/>
              <a:buChar char="•"/>
              <a:defRPr sz="1700">
                <a:solidFill>
                  <a:srgbClr val="2D3034"/>
                </a:solidFill>
                <a:latin typeface="Aptos"/>
              </a:defRPr>
            </a:pPr>
            <a:r>
              <a:rPr lang="en-US" altLang="en-US"/>
              <a:t>Manhattan and Brooklyn have the highest listing volumes in the displayed borough comparison.</a:t>
            </a:r>
            <a:endParaRPr lang="en-US" altLang="en-US"/>
          </a:p>
          <a:p>
            <a:pPr marL="285750" indent="-285750">
              <a:spcAft>
                <a:spcPts val="1200"/>
              </a:spcAft>
              <a:buFont typeface="Arial" panose="020B0604020202020204" pitchFamily="34" charset="0"/>
              <a:buChar char="•"/>
              <a:defRPr sz="1700">
                <a:solidFill>
                  <a:srgbClr val="2D3034"/>
                </a:solidFill>
                <a:latin typeface="Aptos"/>
              </a:defRPr>
            </a:pPr>
            <a:r>
              <a:rPr lang="en-US" altLang="en-US"/>
              <a:t>Entire homes/apartments have the highest average price among the three room types.</a:t>
            </a:r>
            <a:endParaRPr lang="en-US" altLang="en-US"/>
          </a:p>
          <a:p>
            <a:pPr marL="285750" indent="-285750">
              <a:spcAft>
                <a:spcPts val="1200"/>
              </a:spcAft>
              <a:buFont typeface="Arial" panose="020B0604020202020204" pitchFamily="34" charset="0"/>
              <a:buChar char="•"/>
              <a:defRPr sz="1700">
                <a:solidFill>
                  <a:srgbClr val="2D3034"/>
                </a:solidFill>
                <a:latin typeface="Aptos"/>
              </a:defRPr>
            </a:pPr>
            <a:r>
              <a:rPr lang="en-US" altLang="en-US"/>
              <a:t>Most hosts manage a single listing, while a smaller number manage larger portfolios.</a:t>
            </a:r>
            <a:endParaRPr lang="en-US" altLang="en-US"/>
          </a:p>
          <a:p>
            <a:pPr marL="285750" indent="-285750">
              <a:spcAft>
                <a:spcPts val="1200"/>
              </a:spcAft>
              <a:buFont typeface="Arial" panose="020B0604020202020204" pitchFamily="34" charset="0"/>
              <a:buChar char="•"/>
              <a:defRPr sz="1700">
                <a:solidFill>
                  <a:srgbClr val="2D3034"/>
                </a:solidFill>
                <a:latin typeface="Aptos"/>
              </a:defRPr>
            </a:pPr>
            <a:r>
              <a:rPr lang="en-US" altLang="en-US"/>
              <a:t>Listing availability and review counts vary across room types and locations.</a:t>
            </a:r>
            <a:endParaRPr lang="en-US"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3047365" y="1958340"/>
            <a:ext cx="6096000" cy="768350"/>
          </a:xfrm>
          <a:prstGeom prst="rect">
            <a:avLst/>
          </a:prstGeom>
          <a:noFill/>
        </p:spPr>
        <p:txBody>
          <a:bodyPr wrap="square" rtlCol="0">
            <a:spAutoFit/>
          </a:bodyPr>
          <a:p>
            <a:pPr>
              <a:defRPr sz="2800" b="1">
                <a:solidFill>
                  <a:srgbClr val="1D2B3E"/>
                </a:solidFill>
                <a:latin typeface="Aptos Display"/>
              </a:defRPr>
            </a:pPr>
            <a:r>
              <a:rPr lang="en-US" sz="4400">
                <a:sym typeface="+mn-ea"/>
              </a:rPr>
              <a:t>THANK YOU</a:t>
            </a:r>
            <a:endParaRPr lang="en-US" sz="4400"/>
          </a:p>
        </p:txBody>
      </p:sp>
      <p:sp>
        <p:nvSpPr>
          <p:cNvPr id="4" name="TextBox 2"/>
          <p:cNvSpPr txBox="1"/>
          <p:nvPr/>
        </p:nvSpPr>
        <p:spPr>
          <a:xfrm>
            <a:off x="5633720" y="2732913"/>
            <a:ext cx="1876425" cy="521970"/>
          </a:xfrm>
          <a:prstGeom prst="rect">
            <a:avLst/>
          </a:prstGeom>
          <a:noFill/>
        </p:spPr>
        <p:txBody>
          <a:bodyPr wrap="none">
            <a:spAutoFit/>
          </a:bodyPr>
          <a:lstStyle/>
          <a:p>
            <a:pPr>
              <a:defRPr sz="2800" b="1">
                <a:solidFill>
                  <a:srgbClr val="1D2B3E"/>
                </a:solidFill>
                <a:latin typeface="Aptos Display"/>
              </a:defRPr>
            </a:pPr>
            <a:r>
              <a:rPr lang="en-US"/>
              <a:t>Q &amp; ANS ?</a:t>
            </a:r>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6176</Words>
  <Application>WPS Presentation</Application>
  <PresentationFormat>On-screen Show (4:3)</PresentationFormat>
  <Paragraphs>171</Paragraphs>
  <Slides>16</Slides>
  <Notes>0</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16</vt:i4>
      </vt:variant>
    </vt:vector>
  </HeadingPairs>
  <TitlesOfParts>
    <vt:vector size="29" baseType="lpstr">
      <vt:lpstr>Arial</vt:lpstr>
      <vt:lpstr>SimSun</vt:lpstr>
      <vt:lpstr>Wingdings</vt:lpstr>
      <vt:lpstr>Arial</vt:lpstr>
      <vt:lpstr>Aptos</vt:lpstr>
      <vt:lpstr>Segoe UI</vt:lpstr>
      <vt:lpstr>Aptos Display</vt:lpstr>
      <vt:lpstr>Segoe UI Variable Display</vt:lpstr>
      <vt:lpstr>Arial Black</vt:lpstr>
      <vt:lpstr>Calibri</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dc:description>generated using python-pptx</dc:description>
  <cp:lastModifiedBy>Nita Boopathi</cp:lastModifiedBy>
  <cp:revision>10</cp:revision>
  <dcterms:created xsi:type="dcterms:W3CDTF">2013-01-27T09:14:00Z</dcterms:created>
  <dcterms:modified xsi:type="dcterms:W3CDTF">2026-10-15T07:23:56Z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83D08564612B41DD8BE3E6B779A53032_13</vt:lpwstr>
  </property>
  <property fmtid="{D5CDD505-2E9C-101B-9397-08002B2CF9AE}" pid="3" name="KSOProductBuildVer">
    <vt:lpwstr>1033-12.1.0.29162</vt:lpwstr>
  </property>
</Properties>
</file>